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0"/>
            <a:ext cx="3017520" cy="5143500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126480" y="0"/>
            <a:ext cx="64008" cy="5143500"/>
          </a:xfrm>
          <a:prstGeom prst="rect">
            <a:avLst/>
          </a:prstGeom>
          <a:solidFill>
            <a:srgbClr val="3D2B7A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92240" y="548640"/>
            <a:ext cx="73152" cy="73152"/>
          </a:xfrm>
          <a:prstGeom prst="ellipse">
            <a:avLst/>
          </a:prstGeom>
          <a:solidFill>
            <a:srgbClr val="1A0D35"/>
          </a:solidFill>
          <a:ln w="12700">
            <a:solidFill>
              <a:srgbClr val="1A0D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548640"/>
            <a:ext cx="73152" cy="73152"/>
          </a:xfrm>
          <a:prstGeom prst="ellipse">
            <a:avLst/>
          </a:prstGeom>
          <a:solidFill>
            <a:srgbClr val="1A0D35"/>
          </a:solidFill>
          <a:ln w="12700">
            <a:solidFill>
              <a:srgbClr val="1A0D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92240" y="1417320"/>
            <a:ext cx="73152" cy="73152"/>
          </a:xfrm>
          <a:prstGeom prst="ellipse">
            <a:avLst/>
          </a:prstGeom>
          <a:solidFill>
            <a:srgbClr val="1A0D35"/>
          </a:solidFill>
          <a:ln w="12700">
            <a:solidFill>
              <a:srgbClr val="1A0D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0" y="1417320"/>
            <a:ext cx="73152" cy="73152"/>
          </a:xfrm>
          <a:prstGeom prst="ellipse">
            <a:avLst/>
          </a:prstGeom>
          <a:solidFill>
            <a:srgbClr val="1A0D35"/>
          </a:solidFill>
          <a:ln w="12700">
            <a:solidFill>
              <a:srgbClr val="1A0D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2286000"/>
            <a:ext cx="73152" cy="73152"/>
          </a:xfrm>
          <a:prstGeom prst="ellipse">
            <a:avLst/>
          </a:prstGeom>
          <a:solidFill>
            <a:srgbClr val="1A0D35"/>
          </a:solidFill>
          <a:ln w="12700">
            <a:solidFill>
              <a:srgbClr val="1A0D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0" y="2286000"/>
            <a:ext cx="73152" cy="73152"/>
          </a:xfrm>
          <a:prstGeom prst="ellipse">
            <a:avLst/>
          </a:prstGeom>
          <a:solidFill>
            <a:srgbClr val="1A0D35"/>
          </a:solidFill>
          <a:ln w="12700">
            <a:solidFill>
              <a:srgbClr val="1A0D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3154680"/>
            <a:ext cx="73152" cy="73152"/>
          </a:xfrm>
          <a:prstGeom prst="ellipse">
            <a:avLst/>
          </a:prstGeom>
          <a:solidFill>
            <a:srgbClr val="1A0D35"/>
          </a:solidFill>
          <a:ln w="12700">
            <a:solidFill>
              <a:srgbClr val="1A0D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0" y="3154680"/>
            <a:ext cx="73152" cy="73152"/>
          </a:xfrm>
          <a:prstGeom prst="ellipse">
            <a:avLst/>
          </a:prstGeom>
          <a:solidFill>
            <a:srgbClr val="1A0D35"/>
          </a:solidFill>
          <a:ln w="12700">
            <a:solidFill>
              <a:srgbClr val="1A0D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4023360"/>
            <a:ext cx="73152" cy="73152"/>
          </a:xfrm>
          <a:prstGeom prst="ellipse">
            <a:avLst/>
          </a:prstGeom>
          <a:solidFill>
            <a:srgbClr val="1A0D35"/>
          </a:solidFill>
          <a:ln w="12700">
            <a:solidFill>
              <a:srgbClr val="1A0D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0" y="4023360"/>
            <a:ext cx="73152" cy="73152"/>
          </a:xfrm>
          <a:prstGeom prst="ellipse">
            <a:avLst/>
          </a:prstGeom>
          <a:solidFill>
            <a:srgbClr val="1A0D35"/>
          </a:solidFill>
          <a:ln w="12700">
            <a:solidFill>
              <a:srgbClr val="1A0D35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822960"/>
            <a:ext cx="1097280" cy="109728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457200" y="960120"/>
            <a:ext cx="2651760" cy="292608"/>
          </a:xfrm>
          <a:prstGeom prst="rect">
            <a:avLst/>
          </a:prstGeom>
          <a:solidFill>
            <a:srgbClr val="3D2B7A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9601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TRAINING COURSE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57200" y="1426464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B39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and</a:t>
            </a:r>
            <a:endParaRPr lang="en-US" sz="3400" dirty="0"/>
          </a:p>
        </p:txBody>
      </p:sp>
      <p:sp>
        <p:nvSpPr>
          <p:cNvPr id="19" name="Text 16"/>
          <p:cNvSpPr/>
          <p:nvPr/>
        </p:nvSpPr>
        <p:spPr>
          <a:xfrm>
            <a:off x="457200" y="1938528"/>
            <a:ext cx="5486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Types</a:t>
            </a:r>
            <a:endParaRPr lang="en-US" sz="4400" dirty="0"/>
          </a:p>
        </p:txBody>
      </p:sp>
      <p:sp>
        <p:nvSpPr>
          <p:cNvPr id="20" name="Text 17"/>
          <p:cNvSpPr/>
          <p:nvPr/>
        </p:nvSpPr>
        <p:spPr>
          <a:xfrm>
            <a:off x="457200" y="2798064"/>
            <a:ext cx="5394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2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JAX-RS 2.x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457200" y="3337560"/>
            <a:ext cx="5120640" cy="0"/>
          </a:xfrm>
          <a:prstGeom prst="line">
            <a:avLst/>
          </a:prstGeom>
          <a:noFill/>
          <a:ln w="19050">
            <a:solidFill>
              <a:srgbClr val="3D2B7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3456432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D2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types · @Consumes / @Produces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39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@XXXParam annotations · @DefaultValue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39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types · Binary content · File delivery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57200" y="4663440"/>
            <a:ext cx="1097280" cy="256032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46634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 LTS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1691640" y="4663440"/>
            <a:ext cx="1097280" cy="256032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691640" y="46634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Tomcat 9.0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2926080" y="4663440"/>
            <a:ext cx="1097280" cy="256032"/>
          </a:xfrm>
          <a:prstGeom prst="rect">
            <a:avLst/>
          </a:prstGeom>
          <a:solidFill>
            <a:srgbClr val="3D2B7A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926080" y="46634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JAX-RS 2.1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4160520" y="4663440"/>
            <a:ext cx="1097280" cy="256032"/>
          </a:xfrm>
          <a:prstGeom prst="rect">
            <a:avLst/>
          </a:prstGeom>
          <a:solidFill>
            <a:srgbClr val="D4651A"/>
          </a:solidFill>
          <a:ln w="12700">
            <a:solidFill>
              <a:srgbClr val="D4651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160520" y="46634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Jersey 2.x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D2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AGENDA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Sections  |  Input/Output Data Handling in JAX-RS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47472" y="1097280"/>
            <a:ext cx="457200" cy="457200"/>
          </a:xfrm>
          <a:prstGeom prst="rect">
            <a:avLst/>
          </a:prstGeom>
          <a:solidFill>
            <a:srgbClr val="3D2B7A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77824" y="1152144"/>
            <a:ext cx="3794760" cy="384048"/>
          </a:xfrm>
          <a:prstGeom prst="rect">
            <a:avLst/>
          </a:prstGeom>
          <a:solidFill>
            <a:srgbClr val="0D0D1A"/>
          </a:solidFill>
          <a:ln w="12700">
            <a:solidFill>
              <a:srgbClr val="2A1F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15214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Parameter Types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2057400"/>
            <a:ext cx="457200" cy="45720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77824" y="2112264"/>
            <a:ext cx="3794760" cy="384048"/>
          </a:xfrm>
          <a:prstGeom prst="rect">
            <a:avLst/>
          </a:prstGeom>
          <a:solidFill>
            <a:srgbClr val="0D0D1A"/>
          </a:solidFill>
          <a:ln w="12700">
            <a:solidFill>
              <a:srgbClr val="2A1F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11226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@Consumes and @Produces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47472" y="3017520"/>
            <a:ext cx="457200" cy="457200"/>
          </a:xfrm>
          <a:prstGeom prst="rect">
            <a:avLst/>
          </a:prstGeom>
          <a:solidFill>
            <a:srgbClr val="3D2B7A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77824" y="3072384"/>
            <a:ext cx="3794760" cy="384048"/>
          </a:xfrm>
          <a:prstGeom prst="rect">
            <a:avLst/>
          </a:prstGeom>
          <a:solidFill>
            <a:srgbClr val="0D0D1A"/>
          </a:solidFill>
          <a:ln w="12700">
            <a:solidFill>
              <a:srgbClr val="2A1F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07238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@XXXParam Annotations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47472" y="3977640"/>
            <a:ext cx="457200" cy="457200"/>
          </a:xfrm>
          <a:prstGeom prst="rect">
            <a:avLst/>
          </a:prstGeom>
          <a:solidFill>
            <a:srgbClr val="D4651A"/>
          </a:solidFill>
          <a:ln w="12700">
            <a:solidFill>
              <a:srgbClr val="D465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77824" y="4032504"/>
            <a:ext cx="3794760" cy="384048"/>
          </a:xfrm>
          <a:prstGeom prst="rect">
            <a:avLst/>
          </a:prstGeom>
          <a:solidFill>
            <a:srgbClr val="0D0D1A"/>
          </a:solidFill>
          <a:ln w="12700">
            <a:solidFill>
              <a:srgbClr val="2A1F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03250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@DefaultValue Annotation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1097280"/>
            <a:ext cx="457200" cy="457200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376672" y="1152144"/>
            <a:ext cx="3794760" cy="384048"/>
          </a:xfrm>
          <a:prstGeom prst="rect">
            <a:avLst/>
          </a:prstGeom>
          <a:solidFill>
            <a:srgbClr val="0D0D1A"/>
          </a:solidFill>
          <a:ln w="12700">
            <a:solidFill>
              <a:srgbClr val="2A1F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04688" y="115214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Types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46320" y="2057400"/>
            <a:ext cx="457200" cy="45720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376672" y="2112264"/>
            <a:ext cx="3794760" cy="384048"/>
          </a:xfrm>
          <a:prstGeom prst="rect">
            <a:avLst/>
          </a:prstGeom>
          <a:solidFill>
            <a:srgbClr val="0D0D1A"/>
          </a:solidFill>
          <a:ln w="12700">
            <a:solidFill>
              <a:srgbClr val="2A1F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04688" y="211226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Content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846320" y="3017520"/>
            <a:ext cx="457200" cy="457200"/>
          </a:xfrm>
          <a:prstGeom prst="rect">
            <a:avLst/>
          </a:prstGeom>
          <a:solidFill>
            <a:srgbClr val="3D2B7A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376672" y="3072384"/>
            <a:ext cx="3794760" cy="384048"/>
          </a:xfrm>
          <a:prstGeom prst="rect">
            <a:avLst/>
          </a:prstGeom>
          <a:solidFill>
            <a:srgbClr val="0D0D1A"/>
          </a:solidFill>
          <a:ln w="12700">
            <a:solidFill>
              <a:srgbClr val="2A1F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04688" y="307238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Delivering a File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2A1F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91947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A2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and Return Types  |  JAX-RS 2.x  |  Java 11 / Tomcat 9.0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solidFill>
            <a:srgbClr val="3D2B7A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7472" y="603504"/>
            <a:ext cx="8449056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Parameter Types — Auto-Conversion Rules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47472" y="1335024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JAX-RS automatically converts the HTTP string into the declared Java type: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1883664"/>
            <a:ext cx="384048" cy="384048"/>
          </a:xfrm>
          <a:prstGeom prst="ellipse">
            <a:avLst/>
          </a:prstGeom>
          <a:solidFill>
            <a:srgbClr val="3D2B7A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883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4672" y="1719072"/>
            <a:ext cx="3858768" cy="713232"/>
          </a:xfrm>
          <a:prstGeom prst="rect">
            <a:avLst/>
          </a:prstGeom>
          <a:solidFill>
            <a:srgbClr val="FFFFFF"/>
          </a:solidFill>
          <a:ln w="5080">
            <a:solidFill>
              <a:srgbClr val="CFD8DC"/>
            </a:solidFill>
            <a:prstDash val="solid"/>
          </a:ln>
          <a:effectLst>
            <a:outerShdw sx="100000" sy="100000" kx="0" ky="0" algn="bl" rotWithShape="0" blurRad="38100" dist="25400" dir="162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1755648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Primitive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14400" y="2066544"/>
            <a:ext cx="3621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int, long, boolean, double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7472" y="2688336"/>
            <a:ext cx="384048" cy="384048"/>
          </a:xfrm>
          <a:prstGeom prst="ellipse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688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" y="2523744"/>
            <a:ext cx="3858768" cy="713232"/>
          </a:xfrm>
          <a:prstGeom prst="rect">
            <a:avLst/>
          </a:prstGeom>
          <a:solidFill>
            <a:srgbClr val="FFFFFF"/>
          </a:solidFill>
          <a:ln w="5080">
            <a:solidFill>
              <a:srgbClr val="CFD8DC"/>
            </a:solidFill>
            <a:prstDash val="solid"/>
          </a:ln>
          <a:effectLst>
            <a:outerShdw sx="100000" sy="100000" kx="0" ky="0" algn="bl" rotWithShape="0" blurRad="38100" dist="25400" dir="162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" y="2560320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Boxed type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2871216"/>
            <a:ext cx="3621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Integer, Long, Boolean, Double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47472" y="3493008"/>
            <a:ext cx="384048" cy="384048"/>
          </a:xfrm>
          <a:prstGeom prst="ellipse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3493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04672" y="3328416"/>
            <a:ext cx="3858768" cy="713232"/>
          </a:xfrm>
          <a:prstGeom prst="rect">
            <a:avLst/>
          </a:prstGeom>
          <a:solidFill>
            <a:srgbClr val="FFFFFF"/>
          </a:solidFill>
          <a:ln w="5080">
            <a:solidFill>
              <a:srgbClr val="CFD8DC"/>
            </a:solidFill>
            <a:prstDash val="solid"/>
          </a:ln>
          <a:effectLst>
            <a:outerShdw sx="100000" sy="100000" kx="0" ky="0" algn="bl" rotWithShape="0" blurRad="38100" dist="25400" dir="1620000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4400" y="3364992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14400" y="3675888"/>
            <a:ext cx="3621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conversion needed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47472" y="4297680"/>
            <a:ext cx="384048" cy="384048"/>
          </a:xfrm>
          <a:prstGeom prst="ellipse">
            <a:avLst/>
          </a:prstGeom>
          <a:solidFill>
            <a:srgbClr val="D4651A"/>
          </a:solidFill>
          <a:ln w="12700">
            <a:solidFill>
              <a:srgbClr val="D465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04672" y="4133088"/>
            <a:ext cx="3858768" cy="713232"/>
          </a:xfrm>
          <a:prstGeom prst="rect">
            <a:avLst/>
          </a:prstGeom>
          <a:solidFill>
            <a:srgbClr val="FFFFFF"/>
          </a:solidFill>
          <a:ln w="5080">
            <a:solidFill>
              <a:srgbClr val="CFD8DC"/>
            </a:solidFill>
            <a:prstDash val="solid"/>
          </a:ln>
          <a:effectLst>
            <a:outerShdw sx="100000" sy="100000" kx="0" ky="0" algn="bl" rotWithShape="0" blurRad="38100" dist="25400" dir="16200000">
              <a:srgbClr val="000000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14400" y="4169664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fromString(String)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14400" y="4480560"/>
            <a:ext cx="3621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UUID, custom types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28032" y="1883664"/>
            <a:ext cx="384048" cy="384048"/>
          </a:xfrm>
          <a:prstGeom prst="ellipse">
            <a:avLst/>
          </a:prstGeom>
          <a:solidFill>
            <a:srgbClr val="D4651A"/>
          </a:solidFill>
          <a:ln w="12700">
            <a:solidFill>
              <a:srgbClr val="D465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1883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285232" y="1719072"/>
            <a:ext cx="3858768" cy="713232"/>
          </a:xfrm>
          <a:prstGeom prst="rect">
            <a:avLst/>
          </a:prstGeom>
          <a:solidFill>
            <a:srgbClr val="FFFFFF"/>
          </a:solidFill>
          <a:ln w="5080">
            <a:solidFill>
              <a:srgbClr val="CFD8DC"/>
            </a:solidFill>
            <a:prstDash val="solid"/>
          </a:ln>
          <a:effectLst>
            <a:outerShdw sx="100000" sy="100000" kx="0" ky="0" algn="bl" rotWithShape="0" blurRad="38100" dist="25400" dir="16200000">
              <a:srgbClr val="000000">
                <a:alpha val="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394960" y="1755648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valueOf(String)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394960" y="2066544"/>
            <a:ext cx="3621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Enum, BigDecimal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28032" y="2688336"/>
            <a:ext cx="384048" cy="384048"/>
          </a:xfrm>
          <a:prstGeom prst="ellipse">
            <a:avLst/>
          </a:prstGeom>
          <a:solidFill>
            <a:srgbClr val="3D2B7A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2688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285232" y="2523744"/>
            <a:ext cx="3858768" cy="713232"/>
          </a:xfrm>
          <a:prstGeom prst="rect">
            <a:avLst/>
          </a:prstGeom>
          <a:solidFill>
            <a:srgbClr val="FFFFFF"/>
          </a:solidFill>
          <a:ln w="5080">
            <a:solidFill>
              <a:srgbClr val="CFD8DC"/>
            </a:solidFill>
            <a:prstDash val="solid"/>
          </a:ln>
          <a:effectLst>
            <a:outerShdw sx="100000" sy="100000" kx="0" ky="0" algn="bl" rotWithShape="0" blurRad="38100" dist="25400" dir="16200000">
              <a:srgbClr val="000000">
                <a:alpha val="6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394960" y="2560320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T(String)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394960" y="2871216"/>
            <a:ext cx="3621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with String constructor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828032" y="3493008"/>
            <a:ext cx="384048" cy="384048"/>
          </a:xfrm>
          <a:prstGeom prst="ellipse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28032" y="3493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5285232" y="3328416"/>
            <a:ext cx="3858768" cy="713232"/>
          </a:xfrm>
          <a:prstGeom prst="rect">
            <a:avLst/>
          </a:prstGeom>
          <a:solidFill>
            <a:srgbClr val="FFFFFF"/>
          </a:solidFill>
          <a:ln w="5080">
            <a:solidFill>
              <a:srgbClr val="CFD8DC"/>
            </a:solidFill>
            <a:prstDash val="solid"/>
          </a:ln>
          <a:effectLst>
            <a:outerShdw sx="100000" sy="100000" kx="0" ky="0" algn="bl" rotWithShape="0" blurRad="38100" dist="25400" dir="16200000">
              <a:srgbClr val="000000">
                <a:alpha val="6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394960" y="3364992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List/Set/SortedSet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394960" y="3675888"/>
            <a:ext cx="3621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any of the above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47472" y="4809744"/>
            <a:ext cx="8449056" cy="256032"/>
          </a:xfrm>
          <a:prstGeom prst="rect">
            <a:avLst/>
          </a:prstGeom>
          <a:solidFill>
            <a:srgbClr val="FFFDE7"/>
          </a:solidFill>
          <a:ln w="12700">
            <a:solidFill>
              <a:srgbClr val="FFF17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80974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failure: @PathParam → 404   |   @QueryParam/@HeaderParam/@FormParam → 400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CFD8D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91947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and Return Types  |  JAX-RS 2.x  |  Java 11 / Tomcat 9.0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858000" y="49194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Simple Parameter Types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7472" y="5943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@Consumes and @Produces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47472" y="121615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negotiation — the runtime matches media types on both sides of the conversation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1664208"/>
            <a:ext cx="4160520" cy="329184"/>
          </a:xfrm>
          <a:prstGeom prst="rect">
            <a:avLst/>
          </a:prstGeom>
          <a:solidFill>
            <a:srgbClr val="3D2B7A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664208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@Produces — what we SEND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664208"/>
            <a:ext cx="4041648" cy="329184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664208"/>
            <a:ext cx="4041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@Consumes — what we ACCEPT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472" y="2066544"/>
            <a:ext cx="4160520" cy="457200"/>
          </a:xfrm>
          <a:prstGeom prst="rect">
            <a:avLst/>
          </a:prstGeom>
          <a:solidFill>
            <a:srgbClr val="130D25"/>
          </a:solidFill>
          <a:ln w="12700">
            <a:solidFill>
              <a:srgbClr val="2A1F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" y="2066544"/>
            <a:ext cx="64008" cy="457200"/>
          </a:xfrm>
          <a:prstGeom prst="rect">
            <a:avLst/>
          </a:prstGeom>
          <a:solidFill>
            <a:srgbClr val="3D2B7A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066544"/>
            <a:ext cx="3950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D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against Accept header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7472" y="2578608"/>
            <a:ext cx="4160520" cy="457200"/>
          </a:xfrm>
          <a:prstGeom prst="rect">
            <a:avLst/>
          </a:prstGeom>
          <a:solidFill>
            <a:srgbClr val="130D25"/>
          </a:solidFill>
          <a:ln w="12700">
            <a:solidFill>
              <a:srgbClr val="2A1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" y="2578608"/>
            <a:ext cx="64008" cy="457200"/>
          </a:xfrm>
          <a:prstGeom prst="rect">
            <a:avLst/>
          </a:prstGeom>
          <a:solidFill>
            <a:srgbClr val="3D2B7A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578608"/>
            <a:ext cx="3950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D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415 if no match → wrong Accept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47472" y="3090672"/>
            <a:ext cx="4160520" cy="457200"/>
          </a:xfrm>
          <a:prstGeom prst="rect">
            <a:avLst/>
          </a:prstGeom>
          <a:solidFill>
            <a:srgbClr val="130D25"/>
          </a:solidFill>
          <a:ln w="12700">
            <a:solidFill>
              <a:srgbClr val="2A1F5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" y="3090672"/>
            <a:ext cx="64008" cy="457200"/>
          </a:xfrm>
          <a:prstGeom prst="rect">
            <a:avLst/>
          </a:prstGeom>
          <a:solidFill>
            <a:srgbClr val="3D2B7A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3090672"/>
            <a:ext cx="3950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D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types listed in preference order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47472" y="3602736"/>
            <a:ext cx="4160520" cy="457200"/>
          </a:xfrm>
          <a:prstGeom prst="rect">
            <a:avLst/>
          </a:prstGeom>
          <a:solidFill>
            <a:srgbClr val="130D25"/>
          </a:solidFill>
          <a:ln w="12700">
            <a:solidFill>
              <a:srgbClr val="2A1F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" y="3602736"/>
            <a:ext cx="64008" cy="457200"/>
          </a:xfrm>
          <a:prstGeom prst="rect">
            <a:avLst/>
          </a:prstGeom>
          <a:solidFill>
            <a:srgbClr val="3D2B7A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602736"/>
            <a:ext cx="3950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D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*/* = wildcard fallback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47472" y="4114800"/>
            <a:ext cx="4160520" cy="457200"/>
          </a:xfrm>
          <a:prstGeom prst="rect">
            <a:avLst/>
          </a:prstGeom>
          <a:solidFill>
            <a:srgbClr val="130D25"/>
          </a:solidFill>
          <a:ln w="12700">
            <a:solidFill>
              <a:srgbClr val="2A1F5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" y="4114800"/>
            <a:ext cx="64008" cy="457200"/>
          </a:xfrm>
          <a:prstGeom prst="rect">
            <a:avLst/>
          </a:prstGeom>
          <a:solidFill>
            <a:srgbClr val="3D2B7A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4114800"/>
            <a:ext cx="3950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D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listed = default when */* sent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2066544"/>
            <a:ext cx="4041648" cy="457200"/>
          </a:xfrm>
          <a:prstGeom prst="rect">
            <a:avLst/>
          </a:prstGeom>
          <a:solidFill>
            <a:srgbClr val="130D25"/>
          </a:solidFill>
          <a:ln w="12700">
            <a:solidFill>
              <a:srgbClr val="1A353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2066544"/>
            <a:ext cx="64008" cy="45720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82896" y="206654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against Content-Type header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2578608"/>
            <a:ext cx="4041648" cy="457200"/>
          </a:xfrm>
          <a:prstGeom prst="rect">
            <a:avLst/>
          </a:prstGeom>
          <a:solidFill>
            <a:srgbClr val="130D25"/>
          </a:solidFill>
          <a:ln w="12700">
            <a:solidFill>
              <a:srgbClr val="1A353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2578608"/>
            <a:ext cx="64008" cy="45720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82896" y="257860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415 Unsupported Media Type if no match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54880" y="3090672"/>
            <a:ext cx="4041648" cy="457200"/>
          </a:xfrm>
          <a:prstGeom prst="rect">
            <a:avLst/>
          </a:prstGeom>
          <a:solidFill>
            <a:srgbClr val="130D25"/>
          </a:solidFill>
          <a:ln w="12700">
            <a:solidFill>
              <a:srgbClr val="1A353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3090672"/>
            <a:ext cx="64008" cy="45720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82896" y="309067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applies when there is a request body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54880" y="3602736"/>
            <a:ext cx="4041648" cy="457200"/>
          </a:xfrm>
          <a:prstGeom prst="rect">
            <a:avLst/>
          </a:prstGeom>
          <a:solidFill>
            <a:srgbClr val="130D25"/>
          </a:solidFill>
          <a:ln w="12700">
            <a:solidFill>
              <a:srgbClr val="1A353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3602736"/>
            <a:ext cx="64008" cy="45720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82896" y="360273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 PUT / PATCH typically use this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54880" y="4114800"/>
            <a:ext cx="4041648" cy="457200"/>
          </a:xfrm>
          <a:prstGeom prst="rect">
            <a:avLst/>
          </a:prstGeom>
          <a:solidFill>
            <a:srgbClr val="130D25"/>
          </a:solidFill>
          <a:ln w="12700">
            <a:solidFill>
              <a:srgbClr val="1A353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0" y="4114800"/>
            <a:ext cx="64008" cy="45720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82896" y="41148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 DELETE ignore @Consumes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2A1F5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91947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A2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and Return Types  |  JAX-RS 2.x  |  Java 11 / Tomcat 9.0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858000" y="49194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3A2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@Consumes and @Produces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7472" y="603504"/>
            <a:ext cx="8449056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Negotiation — Class vs Method Level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47472" y="1353312"/>
            <a:ext cx="8449056" cy="3493008"/>
          </a:xfrm>
          <a:prstGeom prst="rect">
            <a:avLst/>
          </a:prstGeom>
          <a:solidFill>
            <a:srgbClr val="1E1535"/>
          </a:solidFill>
          <a:ln w="12700">
            <a:solidFill>
              <a:srgbClr val="2D2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8229600" cy="3273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@Path("/products")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@Produces(APPLICATION_XML)      // class default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@Consumes(APPLICATION_XML)      // class default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ProductResource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@GET                          // inherits @Produces(JSON)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List&lt;Product&gt; list() { ...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@GET @Path("{id}")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@Produces({APPLICATION_XML,   // overrides class default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APPLICATION_XML})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Product get(@PathParam("id") String id) { ...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4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Accept: application/xml  → XML response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4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Accept: text/html        → 406 Not Acceptable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@GET @Path("export")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@Produces("text/csv")        // overrides with CSV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Response exportCsv()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Response.ok(buildCsv())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.header("Content-Disposition",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"attachment; filename=products.csv")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.build();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CFD8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91947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and Return Types  |  JAX-RS 2.x  |  Java 11 / Tomcat 9.0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858000" y="49194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@Consumes and @Produces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solidFill>
            <a:srgbClr val="3D2B7A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7472" y="5943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@XXXParam Annotations — All Sources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47472" y="1417320"/>
            <a:ext cx="4160520" cy="786384"/>
          </a:xfrm>
          <a:prstGeom prst="rect">
            <a:avLst/>
          </a:prstGeom>
          <a:solidFill>
            <a:srgbClr val="130D25"/>
          </a:solidFill>
          <a:ln w="12700">
            <a:solidFill>
              <a:srgbClr val="1E15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417320"/>
            <a:ext cx="64008" cy="786384"/>
          </a:xfrm>
          <a:prstGeom prst="rect">
            <a:avLst/>
          </a:prstGeom>
          <a:solidFill>
            <a:srgbClr val="3D2B7A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45389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2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@PathParam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1764792"/>
            <a:ext cx="3886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 template variable {name}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5488" y="198424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FA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/products/{id}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7472" y="2313432"/>
            <a:ext cx="4160520" cy="786384"/>
          </a:xfrm>
          <a:prstGeom prst="rect">
            <a:avLst/>
          </a:prstGeom>
          <a:solidFill>
            <a:srgbClr val="130D25"/>
          </a:solidFill>
          <a:ln w="12700">
            <a:solidFill>
              <a:srgbClr val="1E15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" y="2313432"/>
            <a:ext cx="64008" cy="786384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35000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@QueryParam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" y="2660904"/>
            <a:ext cx="3886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query string ?name=value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5488" y="2880360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FA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?page=0&amp;size=20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3209544"/>
            <a:ext cx="4160520" cy="786384"/>
          </a:xfrm>
          <a:prstGeom prst="rect">
            <a:avLst/>
          </a:prstGeom>
          <a:solidFill>
            <a:srgbClr val="130D25"/>
          </a:solidFill>
          <a:ln w="12700">
            <a:solidFill>
              <a:srgbClr val="1E15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3209544"/>
            <a:ext cx="64008" cy="786384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24612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7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@HeaderParam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" y="3557016"/>
            <a:ext cx="3886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 header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5488" y="3776472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FA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Authorization: Bearer ...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7472" y="4105656"/>
            <a:ext cx="4160520" cy="786384"/>
          </a:xfrm>
          <a:prstGeom prst="rect">
            <a:avLst/>
          </a:prstGeom>
          <a:solidFill>
            <a:srgbClr val="130D25"/>
          </a:solidFill>
          <a:ln w="12700">
            <a:solidFill>
              <a:srgbClr val="1E153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" y="4105656"/>
            <a:ext cx="64008" cy="786384"/>
          </a:xfrm>
          <a:prstGeom prst="rect">
            <a:avLst/>
          </a:prstGeom>
          <a:solidFill>
            <a:srgbClr val="D4651A"/>
          </a:solidFill>
          <a:ln w="12700">
            <a:solidFill>
              <a:srgbClr val="D465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414223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65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@FormParam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" y="4453128"/>
            <a:ext cx="3886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body (urlencoded / multipart)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5488" y="4672584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FA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username=alice&amp;pw=secret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54880" y="1417320"/>
            <a:ext cx="4160520" cy="786384"/>
          </a:xfrm>
          <a:prstGeom prst="rect">
            <a:avLst/>
          </a:prstGeom>
          <a:solidFill>
            <a:srgbClr val="130D25"/>
          </a:solidFill>
          <a:ln w="12700">
            <a:solidFill>
              <a:srgbClr val="1E153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1417320"/>
            <a:ext cx="64008" cy="786384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82896" y="145389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@CookieParam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82896" y="1764792"/>
            <a:ext cx="3886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header sent by client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82896" y="198424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FA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Cookie: SESSION=xyz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754880" y="2313432"/>
            <a:ext cx="4160520" cy="786384"/>
          </a:xfrm>
          <a:prstGeom prst="rect">
            <a:avLst/>
          </a:prstGeom>
          <a:solidFill>
            <a:srgbClr val="130D25"/>
          </a:solidFill>
          <a:ln w="12700">
            <a:solidFill>
              <a:srgbClr val="1E153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2313432"/>
            <a:ext cx="64008" cy="786384"/>
          </a:xfrm>
          <a:prstGeom prst="rect">
            <a:avLst/>
          </a:prstGeom>
          <a:solidFill>
            <a:srgbClr val="3D2B7A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82896" y="235000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2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@MatrixParam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82896" y="2660904"/>
            <a:ext cx="3886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Semicolon params in path segment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82896" y="2880360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FA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/products;cat=books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754880" y="3209544"/>
            <a:ext cx="4160520" cy="786384"/>
          </a:xfrm>
          <a:prstGeom prst="rect">
            <a:avLst/>
          </a:prstGeom>
          <a:solidFill>
            <a:srgbClr val="130D25"/>
          </a:solidFill>
          <a:ln w="12700">
            <a:solidFill>
              <a:srgbClr val="1E153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3209544"/>
            <a:ext cx="64008" cy="786384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82896" y="324612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7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@BeanParam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82896" y="3557016"/>
            <a:ext cx="3886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multiple @Param into a bean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882896" y="3776472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FA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ProductFilter bean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754880" y="4105656"/>
            <a:ext cx="4160520" cy="786384"/>
          </a:xfrm>
          <a:prstGeom prst="rect">
            <a:avLst/>
          </a:prstGeom>
          <a:solidFill>
            <a:srgbClr val="130D25"/>
          </a:solidFill>
          <a:ln w="12700">
            <a:solidFill>
              <a:srgbClr val="1E153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0" y="4105656"/>
            <a:ext cx="64008" cy="786384"/>
          </a:xfrm>
          <a:prstGeom prst="rect">
            <a:avLst/>
          </a:prstGeom>
          <a:solidFill>
            <a:srgbClr val="D4651A"/>
          </a:solidFill>
          <a:ln w="12700">
            <a:solidFill>
              <a:srgbClr val="D4651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82896" y="414223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65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@Context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82896" y="4453128"/>
            <a:ext cx="3886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JAX-RS framework objects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882896" y="4672584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FA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UriInfo, HttpHeaders, ...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2A1F5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491947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A2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and Return Types  |  JAX-RS 2.x  |  Java 11 / Tomcat 9.0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858000" y="49194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3A2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— @XXXParam Annotations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solidFill>
            <a:srgbClr val="3D2B7A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7472" y="603504"/>
            <a:ext cx="8449056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@BeanParam — Cleaner Method Signatures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47472" y="1353312"/>
            <a:ext cx="4297680" cy="3493008"/>
          </a:xfrm>
          <a:prstGeom prst="rect">
            <a:avLst/>
          </a:prstGeom>
          <a:solidFill>
            <a:srgbClr val="1E1535"/>
          </a:solidFill>
          <a:ln w="12700">
            <a:solidFill>
              <a:srgbClr val="2D2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4078224" cy="3273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4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Without @BeanParam — messy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@GET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List&lt;Product&gt; list(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@QueryParam("category") String cat,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@QueryParam("minPrice") BigDecimal min,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@QueryParam("maxPrice") BigDecimal max,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@QueryParam("page") @DefaultValue("0") int pg,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@QueryParam("size") @DefaultValue("20") int sz,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@QueryParam("sort") @DefaultValue("name") String sort,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@HeaderParam("Accept-Language") String lang)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4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... 7-parameter chaos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754880" y="1353312"/>
            <a:ext cx="4041648" cy="3493008"/>
          </a:xfrm>
          <a:prstGeom prst="rect">
            <a:avLst/>
          </a:prstGeom>
          <a:solidFill>
            <a:srgbClr val="1E1535"/>
          </a:solidFill>
          <a:ln w="12700">
            <a:solidFill>
              <a:srgbClr val="2D20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64608" y="1463040"/>
            <a:ext cx="3822192" cy="3273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4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ProductFilter bean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ProductFilter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@QueryParam("category")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String category;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@QueryParam("minPrice")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BigDecimal minPrice;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@QueryParam("page")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@DefaultValue("0")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int page;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@QueryParam("size")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@DefaultValue("20")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int size;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@HeaderParam("Accept-Language")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String language;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4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With @BeanParam — clean!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@GET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List&lt;Product&gt; list(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@BeanParam ProductFilter f)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repo.find(f);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CFD8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91947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and Return Types  |  JAX-RS 2.x  |  Java 11 / Tomcat 9.0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858000" y="49194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— @XXXParam Annotations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solidFill>
            <a:srgbClr val="D4651A"/>
          </a:solidFill>
          <a:ln w="12700">
            <a:solidFill>
              <a:srgbClr val="D465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7472" y="603504"/>
            <a:ext cx="8449056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@DefaultValue — Self-Documenting Defaults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47472" y="1335024"/>
            <a:ext cx="8449056" cy="2560320"/>
          </a:xfrm>
          <a:prstGeom prst="rect">
            <a:avLst/>
          </a:prstGeom>
          <a:solidFill>
            <a:srgbClr val="1E1535"/>
          </a:solidFill>
          <a:ln w="12700">
            <a:solidFill>
              <a:srgbClr val="2D2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44752"/>
            <a:ext cx="8229600" cy="2340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4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Without @DefaultValue — manual null checks everywhere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@GET public List&lt;Product&gt; list(@QueryParam("page") int page,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@QueryParam("size") Integer size, @QueryParam("sort") String sort)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s = (size != null) ? size : 20; String o = (sort != null) ? sort : "name";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repo.find(page, s, o);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4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With @DefaultValue — clean, self-documenting contract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@GET public List&lt;Product&gt; list(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@QueryParam("page") @DefaultValue("0")    int    page,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@QueryParam("size") @DefaultValue("20")   int    size,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@QueryParam("sort") @DefaultValue("name") String sort,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@QueryParam("active") @DefaultValue("true") boolean active)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repo.find(page, size, sort, active); }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47472" y="4005072"/>
            <a:ext cx="201168" cy="219456"/>
          </a:xfrm>
          <a:prstGeom prst="rect">
            <a:avLst/>
          </a:prstGeom>
          <a:solidFill>
            <a:srgbClr val="D4651A"/>
          </a:solidFill>
          <a:ln w="12700">
            <a:solidFill>
              <a:srgbClr val="D465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400507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fires ONLY when parameter is completely absent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4279392"/>
            <a:ext cx="201168" cy="219456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427939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string ?page= injects null or empty, NOT the default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" y="4553712"/>
            <a:ext cx="201168" cy="219456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455371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string is parsed by the same rules as a real value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" y="4828032"/>
            <a:ext cx="201168" cy="219456"/>
          </a:xfrm>
          <a:prstGeom prst="rect">
            <a:avLst/>
          </a:prstGeom>
          <a:solidFill>
            <a:srgbClr val="3D2B7A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482803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all @Param annotations (not just @QueryParam)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CFD8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91947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and Return Types  |  JAX-RS 2.x  |  Java 11 / Tomcat 9.0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858000" y="49194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— The @DefaultValue Annotation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7472" y="5943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Types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47472" y="1371600"/>
            <a:ext cx="1828800" cy="310896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3716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Type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12848" y="1371600"/>
            <a:ext cx="2560320" cy="310896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12848" y="13716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Status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9744" y="1371600"/>
            <a:ext cx="3657600" cy="310896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9744" y="137160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" y="1737360"/>
            <a:ext cx="1828800" cy="448056"/>
          </a:xfrm>
          <a:prstGeom prst="rect">
            <a:avLst/>
          </a:prstGeom>
          <a:solidFill>
            <a:srgbClr val="130D25"/>
          </a:solidFill>
          <a:ln w="3810">
            <a:solidFill>
              <a:srgbClr val="1E15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1737360"/>
            <a:ext cx="1719072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12848" y="1737360"/>
            <a:ext cx="2560320" cy="448056"/>
          </a:xfrm>
          <a:prstGeom prst="rect">
            <a:avLst/>
          </a:prstGeom>
          <a:solidFill>
            <a:srgbClr val="130D25"/>
          </a:solidFill>
          <a:ln w="3810">
            <a:solidFill>
              <a:srgbClr val="1E15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67712" y="1737360"/>
            <a:ext cx="2450592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204 No Content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9744" y="1737360"/>
            <a:ext cx="3657600" cy="448056"/>
          </a:xfrm>
          <a:prstGeom prst="rect">
            <a:avLst/>
          </a:prstGeom>
          <a:solidFill>
            <a:srgbClr val="130D25"/>
          </a:solidFill>
          <a:ln w="3810">
            <a:solidFill>
              <a:srgbClr val="1E15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64608" y="1737360"/>
            <a:ext cx="3547872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body sent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2240280"/>
            <a:ext cx="1828800" cy="448056"/>
          </a:xfrm>
          <a:prstGeom prst="rect">
            <a:avLst/>
          </a:prstGeom>
          <a:solidFill>
            <a:srgbClr val="0D0D1A"/>
          </a:solidFill>
          <a:ln w="3810">
            <a:solidFill>
              <a:srgbClr val="1E15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" y="2240280"/>
            <a:ext cx="1719072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POJO / DTO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12848" y="2240280"/>
            <a:ext cx="2560320" cy="448056"/>
          </a:xfrm>
          <a:prstGeom prst="rect">
            <a:avLst/>
          </a:prstGeom>
          <a:solidFill>
            <a:srgbClr val="0D0D1A"/>
          </a:solidFill>
          <a:ln w="3810">
            <a:solidFill>
              <a:srgbClr val="1E15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67712" y="2240280"/>
            <a:ext cx="2450592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2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OK + serialised body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09744" y="2240280"/>
            <a:ext cx="3657600" cy="448056"/>
          </a:xfrm>
          <a:prstGeom prst="rect">
            <a:avLst/>
          </a:prstGeom>
          <a:solidFill>
            <a:srgbClr val="0D0D1A"/>
          </a:solidFill>
          <a:ln w="3810">
            <a:solidFill>
              <a:srgbClr val="1E15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64608" y="2240280"/>
            <a:ext cx="3547872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JAXB marshals to XML automatically (@XmlRootElement)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7472" y="2743200"/>
            <a:ext cx="1828800" cy="448056"/>
          </a:xfrm>
          <a:prstGeom prst="rect">
            <a:avLst/>
          </a:prstGeom>
          <a:solidFill>
            <a:srgbClr val="130D25"/>
          </a:solidFill>
          <a:ln w="3810">
            <a:solidFill>
              <a:srgbClr val="1E15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" y="2743200"/>
            <a:ext cx="1719072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Collection&lt;T&gt;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212848" y="2743200"/>
            <a:ext cx="2560320" cy="448056"/>
          </a:xfrm>
          <a:prstGeom prst="rect">
            <a:avLst/>
          </a:prstGeom>
          <a:solidFill>
            <a:srgbClr val="130D25"/>
          </a:solidFill>
          <a:ln w="3810">
            <a:solidFill>
              <a:srgbClr val="1E15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67712" y="2743200"/>
            <a:ext cx="2450592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2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OK + JSON array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9744" y="2743200"/>
            <a:ext cx="3657600" cy="448056"/>
          </a:xfrm>
          <a:prstGeom prst="rect">
            <a:avLst/>
          </a:prstGeom>
          <a:solidFill>
            <a:srgbClr val="130D25"/>
          </a:solidFill>
          <a:ln w="3810">
            <a:solidFill>
              <a:srgbClr val="1E15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64608" y="2743200"/>
            <a:ext cx="3547872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GenericEntity to preserve List&lt;T&gt; type for JAXB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7472" y="3246120"/>
            <a:ext cx="1828800" cy="448056"/>
          </a:xfrm>
          <a:prstGeom prst="rect">
            <a:avLst/>
          </a:prstGeom>
          <a:solidFill>
            <a:srgbClr val="0D0D1A"/>
          </a:solidFill>
          <a:ln w="3810">
            <a:solidFill>
              <a:srgbClr val="1E15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2336" y="3246120"/>
            <a:ext cx="1719072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212848" y="3246120"/>
            <a:ext cx="2560320" cy="448056"/>
          </a:xfrm>
          <a:prstGeom prst="rect">
            <a:avLst/>
          </a:prstGeom>
          <a:solidFill>
            <a:srgbClr val="0D0D1A"/>
          </a:solidFill>
          <a:ln w="3810">
            <a:solidFill>
              <a:srgbClr val="1E153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67712" y="3246120"/>
            <a:ext cx="2450592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7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set by builder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09744" y="3246120"/>
            <a:ext cx="3657600" cy="448056"/>
          </a:xfrm>
          <a:prstGeom prst="rect">
            <a:avLst/>
          </a:prstGeom>
          <a:solidFill>
            <a:srgbClr val="0D0D1A"/>
          </a:solidFill>
          <a:ln w="3810">
            <a:solidFill>
              <a:srgbClr val="1E153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64608" y="3246120"/>
            <a:ext cx="3547872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control: status, headers, body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47472" y="3749040"/>
            <a:ext cx="1828800" cy="448056"/>
          </a:xfrm>
          <a:prstGeom prst="rect">
            <a:avLst/>
          </a:prstGeom>
          <a:solidFill>
            <a:srgbClr val="130D25"/>
          </a:solidFill>
          <a:ln w="3810">
            <a:solidFill>
              <a:srgbClr val="1E15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2336" y="3749040"/>
            <a:ext cx="1719072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(null)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212848" y="3749040"/>
            <a:ext cx="2560320" cy="448056"/>
          </a:xfrm>
          <a:prstGeom prst="rect">
            <a:avLst/>
          </a:prstGeom>
          <a:solidFill>
            <a:srgbClr val="130D25"/>
          </a:solidFill>
          <a:ln w="3810">
            <a:solidFill>
              <a:srgbClr val="1E153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67712" y="3749040"/>
            <a:ext cx="2450592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7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OK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09744" y="3749040"/>
            <a:ext cx="3657600" cy="448056"/>
          </a:xfrm>
          <a:prstGeom prst="rect">
            <a:avLst/>
          </a:prstGeom>
          <a:solidFill>
            <a:srgbClr val="130D25"/>
          </a:solidFill>
          <a:ln w="3810">
            <a:solidFill>
              <a:srgbClr val="1E153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64608" y="3749040"/>
            <a:ext cx="3547872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body but headers still available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47472" y="4251960"/>
            <a:ext cx="1828800" cy="448056"/>
          </a:xfrm>
          <a:prstGeom prst="rect">
            <a:avLst/>
          </a:prstGeom>
          <a:solidFill>
            <a:srgbClr val="0D0D1A"/>
          </a:solidFill>
          <a:ln w="3810">
            <a:solidFill>
              <a:srgbClr val="1E153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02336" y="4251960"/>
            <a:ext cx="1719072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CompletionStage&lt;T&gt;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212848" y="4251960"/>
            <a:ext cx="2560320" cy="448056"/>
          </a:xfrm>
          <a:prstGeom prst="rect">
            <a:avLst/>
          </a:prstGeom>
          <a:solidFill>
            <a:srgbClr val="0D0D1A"/>
          </a:solidFill>
          <a:ln w="3810">
            <a:solidFill>
              <a:srgbClr val="1E153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267712" y="4251960"/>
            <a:ext cx="2450592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D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— later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09744" y="4251960"/>
            <a:ext cx="3657600" cy="448056"/>
          </a:xfrm>
          <a:prstGeom prst="rect">
            <a:avLst/>
          </a:prstGeom>
          <a:solidFill>
            <a:srgbClr val="0D0D1A"/>
          </a:solidFill>
          <a:ln w="3810">
            <a:solidFill>
              <a:srgbClr val="1E153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64608" y="4251960"/>
            <a:ext cx="3547872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Non-blocking; JAX-RS 2.1+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2A1F5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491947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A2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and Return Types  |  JAX-RS 2.x  |  Java 11 / Tomcat 9.0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858000" y="49194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3A2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— Return Types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7472" y="603504"/>
            <a:ext cx="8449056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Responses — ResponseBuilder API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47472" y="1335024"/>
            <a:ext cx="5029200" cy="3493008"/>
          </a:xfrm>
          <a:prstGeom prst="rect">
            <a:avLst/>
          </a:prstGeom>
          <a:solidFill>
            <a:srgbClr val="1E1535"/>
          </a:solidFill>
          <a:ln w="12700">
            <a:solidFill>
              <a:srgbClr val="2D2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44752"/>
            <a:ext cx="4809744" cy="3273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4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201 Created + Location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@POST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Response create(Product p,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@Context UriInfo ui)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Product saved = repo.save(p);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URI loc = ui.getAbsolutePathBuilder()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.path(saved.getId()).build();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Response.created(loc)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.entity(saved).build();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4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204 No Content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@DELETE @Path("{id}")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Response delete(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@PathParam("id") String id)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(!repo.delete(id))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Response.status(404).build();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Response.noContent().build();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559552" y="1389888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Builder Methods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59552" y="1700784"/>
            <a:ext cx="3246120" cy="292608"/>
          </a:xfrm>
          <a:prstGeom prst="rect">
            <a:avLst/>
          </a:prstGeom>
          <a:solidFill>
            <a:srgbClr val="F3F0FF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14416" y="170078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Response.ok(entity)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808976" y="1700784"/>
            <a:ext cx="969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with body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559552" y="2029968"/>
            <a:ext cx="324612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14416" y="202996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Response.created(uri)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808976" y="2029968"/>
            <a:ext cx="969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+ Location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559552" y="2359152"/>
            <a:ext cx="3246120" cy="292608"/>
          </a:xfrm>
          <a:prstGeom prst="rect">
            <a:avLst/>
          </a:prstGeom>
          <a:solidFill>
            <a:srgbClr val="F3F0FF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14416" y="235915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Response.noContent()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08976" y="2359152"/>
            <a:ext cx="969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559552" y="2688336"/>
            <a:ext cx="324612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14416" y="268833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Response.notModified()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08976" y="2688336"/>
            <a:ext cx="969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304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559552" y="3017520"/>
            <a:ext cx="3246120" cy="292608"/>
          </a:xfrm>
          <a:prstGeom prst="rect">
            <a:avLst/>
          </a:prstGeom>
          <a:solidFill>
            <a:srgbClr val="F3F0FF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14416" y="301752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Response.status(code)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808976" y="3017520"/>
            <a:ext cx="969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status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559552" y="3346704"/>
            <a:ext cx="324612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14416" y="334670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.entity(object)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808976" y="3346704"/>
            <a:ext cx="969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body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559552" y="3675888"/>
            <a:ext cx="3246120" cy="292608"/>
          </a:xfrm>
          <a:prstGeom prst="rect">
            <a:avLst/>
          </a:prstGeom>
          <a:solidFill>
            <a:srgbClr val="F3F0FF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14416" y="367588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.header(name,value)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808976" y="3675888"/>
            <a:ext cx="969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header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559552" y="4005072"/>
            <a:ext cx="324612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14416" y="400507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.cookie(NewCookie)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808976" y="4005072"/>
            <a:ext cx="969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Set-Cookie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559552" y="4334256"/>
            <a:ext cx="3246120" cy="292608"/>
          </a:xfrm>
          <a:prstGeom prst="rect">
            <a:avLst/>
          </a:prstGeom>
          <a:solidFill>
            <a:srgbClr val="F3F0FF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14416" y="433425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.tag(EntityTag)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808976" y="4334256"/>
            <a:ext cx="969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ETag header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559552" y="4663440"/>
            <a:ext cx="324612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FD8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14416" y="46634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.build()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808976" y="4663440"/>
            <a:ext cx="969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CFD8D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91947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and Return Types  |  JAX-RS 2.x  |  Java 11 / Tomcat 9.0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858000" y="49194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— Return Types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7472" y="603504"/>
            <a:ext cx="8449056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Content — Reading and Writing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47472" y="1335024"/>
            <a:ext cx="4297680" cy="3493008"/>
          </a:xfrm>
          <a:prstGeom prst="rect">
            <a:avLst/>
          </a:prstGeom>
          <a:solidFill>
            <a:srgbClr val="1E1535"/>
          </a:solidFill>
          <a:ln w="12700">
            <a:solidFill>
              <a:srgbClr val="2D2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44752"/>
            <a:ext cx="4078224" cy="3273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4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READ: byte[] — full body in memory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@POST @Path("/images/{id}")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@Consumes("image/*")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Response upload(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@PathParam("id") String id,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byte[] data)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imageService.store(id, data);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Response.noContent().build();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4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READ: InputStream — streaming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@POST @Path("/upload")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@Consumes(APPLICATION_OCTET_STREAM)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Response uploadStream(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@PathParam("id") String id,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InputStream stream)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storage.save(id, stream); // constant memory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Response.noContent().build();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754880" y="1335024"/>
            <a:ext cx="4041648" cy="3493008"/>
          </a:xfrm>
          <a:prstGeom prst="rect">
            <a:avLst/>
          </a:prstGeom>
          <a:solidFill>
            <a:srgbClr val="1E1535"/>
          </a:solidFill>
          <a:ln w="12700">
            <a:solidFill>
              <a:srgbClr val="2D20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64608" y="1444752"/>
            <a:ext cx="3822192" cy="3273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4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WRITE: StreamingOutput (lazy)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@GET @Path("/reports/{id}/pdf")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@Produces("application/pdf")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Response downloadPdf(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@PathParam("id") String id)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Report report = svc.find(id);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StreamingOutput stream = out -&gt;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pdfGen.generate(report, out);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out.flush();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Response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.ok(stream)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.header("Content-Disposition",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"attachment; filename=report.pdf")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.build();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4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StreamingOutput avoids buffering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4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— ideal for large binary responses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CFD8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91947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and Return Types  |  JAX-RS 2.x  |  Java 11 / Tomcat 9.0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858000" y="49194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— Binary Content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solidFill>
            <a:srgbClr val="3D2B7A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7472" y="5943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Delivering a File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47472" y="121615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39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java.io.File and java.nio.file.Path as response entities — with security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1600200"/>
            <a:ext cx="8449056" cy="2377440"/>
          </a:xfrm>
          <a:prstGeom prst="rect">
            <a:avLst/>
          </a:prstGeom>
          <a:solidFill>
            <a:srgbClr val="1E1535"/>
          </a:solidFill>
          <a:ln w="12700">
            <a:solidFill>
              <a:srgbClr val="2D20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09928"/>
            <a:ext cx="8229600" cy="2157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@GET @Path("/files/{filename}")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Response download(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@PathParam("filename") String filename,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@QueryParam("inline") @DefaultValue("false") boolean inline)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throws IOException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4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── Security: path traversal guard ──────────────────────────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Path file = BASE_DIR.resolve(filename).normalize();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(!file.startsWith(BASE_DIR.normalize()))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Response.status(403).build();          // FORBIDDEN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(!Files.exists(file)) return Response.status(404).build();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mime = Files.probeContentType(file);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(mime == null) mime = APPLICATION_OCTET_STREAM;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cd = (inline ? "inline" : "attachment") +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"; filename=\"" + file.getFileName() + "\"";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Response.ok(file.toFile(), mime)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.header("Content-Length",      Files.size(file))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.header("Content-Disposition", cd)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.header("Cache-Control",       "private, max-age=3600")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.build();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2A1F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91947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A2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and Return Types  |  JAX-RS 2.x  |  Java 11 / Tomcat 9.0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858000" y="49194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3A2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— Delivering a File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solidFill>
            <a:srgbClr val="3D2B7A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7472" y="603504"/>
            <a:ext cx="8449056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Traversal — The Attack and the Fix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47472" y="1335024"/>
            <a:ext cx="8449056" cy="347472"/>
          </a:xfrm>
          <a:prstGeom prst="rect">
            <a:avLst/>
          </a:prstGeom>
          <a:solidFill>
            <a:srgbClr val="FFEBEE"/>
          </a:solidFill>
          <a:ln w="12700">
            <a:solidFill>
              <a:srgbClr val="EF9A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3502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/files/../../etc/passwd  →  Without protection this reads the system password file!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" y="1773936"/>
            <a:ext cx="8449056" cy="2340864"/>
          </a:xfrm>
          <a:prstGeom prst="rect">
            <a:avLst/>
          </a:prstGeom>
          <a:solidFill>
            <a:srgbClr val="1E1535"/>
          </a:solidFill>
          <a:ln w="12700">
            <a:solidFill>
              <a:srgbClr val="2D20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83664"/>
            <a:ext cx="8229600" cy="2121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4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WRONG — never resolve user input directly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 file = Paths.get("/opt/exports/").resolve(filename);  // vulnerable!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4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CORRECT — always normalise and verify the result is inside the base directory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static final Path BASE_DIR = Path.of("/opt/app/exports").normalize();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Path safeResolve(String filename)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(filename.contains("/") || filename.contains("\\"))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throw new BadRequestException("Filename must not contain separators");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Path resolved = BASE_DIR.resolve(filename).normalize();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(!resolved.startsWith(BASE_DIR))          // escape check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throw new ForbiddenException("Access denied");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resolved;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47472" y="4206240"/>
            <a:ext cx="182880" cy="18288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" y="418795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filenames with / or \\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" y="4443984"/>
            <a:ext cx="182880" cy="18288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" y="4425696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call .normalize() after .resolve()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" y="4681728"/>
            <a:ext cx="182880" cy="18288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466344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result .startsWith(BASE_DIR)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4919472"/>
            <a:ext cx="182880" cy="182880"/>
          </a:xfrm>
          <a:prstGeom prst="rect">
            <a:avLst/>
          </a:prstGeom>
          <a:solidFill>
            <a:srgbClr val="3D2B7A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" y="490118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403 Forbidden on violation (not 404 — don't leak information)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CFD8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91947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and Return Types  |  JAX-RS 2.x  |  Java 11 / Tomcat 9.0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858000" y="49194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— Delivering a File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D2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SUMMARY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12064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47472" y="1115568"/>
            <a:ext cx="4160520" cy="841248"/>
          </a:xfrm>
          <a:prstGeom prst="rect">
            <a:avLst/>
          </a:prstGeom>
          <a:solidFill>
            <a:srgbClr val="0D0D1A"/>
          </a:solidFill>
          <a:ln w="12700">
            <a:solidFill>
              <a:srgbClr val="1E15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115568"/>
            <a:ext cx="502920" cy="841248"/>
          </a:xfrm>
          <a:prstGeom prst="rect">
            <a:avLst/>
          </a:prstGeom>
          <a:solidFill>
            <a:srgbClr val="3D2B7A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115568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41832" y="1207008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JAX-RS converts parameter strings to primitives, boxed types, enums, and types with fromString() / valueOf().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115568"/>
            <a:ext cx="4160520" cy="841248"/>
          </a:xfrm>
          <a:prstGeom prst="rect">
            <a:avLst/>
          </a:prstGeom>
          <a:solidFill>
            <a:srgbClr val="0D0D1A"/>
          </a:solidFill>
          <a:ln w="12700">
            <a:solidFill>
              <a:srgbClr val="1E15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115568"/>
            <a:ext cx="502920" cy="841248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115568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349240" y="1207008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@Produces matches Accept header; @Consumes matches Content-Type. Method-level overrides class-level.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7472" y="2075688"/>
            <a:ext cx="4160520" cy="841248"/>
          </a:xfrm>
          <a:prstGeom prst="rect">
            <a:avLst/>
          </a:prstGeom>
          <a:solidFill>
            <a:srgbClr val="0D0D1A"/>
          </a:solidFill>
          <a:ln w="12700">
            <a:solidFill>
              <a:srgbClr val="1E15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" y="2075688"/>
            <a:ext cx="502920" cy="841248"/>
          </a:xfrm>
          <a:prstGeom prst="rect">
            <a:avLst/>
          </a:prstGeom>
          <a:solidFill>
            <a:srgbClr val="3D2B7A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075688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41832" y="2167128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@Param annotations inject data from different parts of the HTTP request. @BeanParam aggregates them.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2075688"/>
            <a:ext cx="4160520" cy="841248"/>
          </a:xfrm>
          <a:prstGeom prst="rect">
            <a:avLst/>
          </a:prstGeom>
          <a:solidFill>
            <a:srgbClr val="0D0D1A"/>
          </a:solidFill>
          <a:ln w="12700">
            <a:solidFill>
              <a:srgbClr val="1E153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2075688"/>
            <a:ext cx="502920" cy="841248"/>
          </a:xfrm>
          <a:prstGeom prst="rect">
            <a:avLst/>
          </a:prstGeom>
          <a:solidFill>
            <a:srgbClr val="D4651A"/>
          </a:solidFill>
          <a:ln w="12700">
            <a:solidFill>
              <a:srgbClr val="D465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075688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349240" y="2167128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@DefaultValue fires only when a parameter is absent — not when it's present but blank or empty.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47472" y="3035808"/>
            <a:ext cx="4160520" cy="841248"/>
          </a:xfrm>
          <a:prstGeom prst="rect">
            <a:avLst/>
          </a:prstGeom>
          <a:solidFill>
            <a:srgbClr val="0D0D1A"/>
          </a:solidFill>
          <a:ln w="12700">
            <a:solidFill>
              <a:srgbClr val="1E153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" y="3035808"/>
            <a:ext cx="502920" cy="841248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3035808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41832" y="3127248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void→204, POJO→200, Response for full control. Use GenericEntity for generic type preservation.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3035808"/>
            <a:ext cx="4160520" cy="841248"/>
          </a:xfrm>
          <a:prstGeom prst="rect">
            <a:avLst/>
          </a:prstGeom>
          <a:solidFill>
            <a:srgbClr val="0D0D1A"/>
          </a:solidFill>
          <a:ln w="12700">
            <a:solidFill>
              <a:srgbClr val="1E153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3035808"/>
            <a:ext cx="502920" cy="841248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3035808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349240" y="3127248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StreamingOutput writes lazily — prefer it over byte[] for large files to avoid memory exhaustion.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47472" y="3995928"/>
            <a:ext cx="8567928" cy="841248"/>
          </a:xfrm>
          <a:prstGeom prst="rect">
            <a:avLst/>
          </a:prstGeom>
          <a:solidFill>
            <a:srgbClr val="0D0D1A"/>
          </a:solidFill>
          <a:ln w="12700">
            <a:solidFill>
              <a:srgbClr val="1E153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7472" y="3995928"/>
            <a:ext cx="502920" cy="84124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3995928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41832" y="4123944"/>
            <a:ext cx="7863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normalise paths and verify against BASE_DIR before serving files. Return 403 on traversal attempt.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2A1F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91947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A2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and Return Types  |  JAX-RS 2.x  |  Java 11 / Tomcat 9.0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858000" y="49194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3A2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Summary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35040" y="0"/>
            <a:ext cx="64008" cy="5143500"/>
          </a:xfrm>
          <a:prstGeom prst="rect">
            <a:avLst/>
          </a:prstGeom>
          <a:solidFill>
            <a:srgbClr val="3D2B7A"/>
          </a:solidFill>
          <a:ln w="12700">
            <a:solidFill>
              <a:srgbClr val="3D2B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92240" y="548640"/>
            <a:ext cx="73152" cy="73152"/>
          </a:xfrm>
          <a:prstGeom prst="ellipse">
            <a:avLst/>
          </a:prstGeom>
          <a:solidFill>
            <a:srgbClr val="1A0D35"/>
          </a:solidFill>
          <a:ln w="12700">
            <a:solidFill>
              <a:srgbClr val="1A0D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548640"/>
            <a:ext cx="73152" cy="73152"/>
          </a:xfrm>
          <a:prstGeom prst="ellipse">
            <a:avLst/>
          </a:prstGeom>
          <a:solidFill>
            <a:srgbClr val="1A0D35"/>
          </a:solidFill>
          <a:ln w="12700">
            <a:solidFill>
              <a:srgbClr val="1A0D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92240" y="1417320"/>
            <a:ext cx="73152" cy="73152"/>
          </a:xfrm>
          <a:prstGeom prst="ellipse">
            <a:avLst/>
          </a:prstGeom>
          <a:solidFill>
            <a:srgbClr val="1A0D35"/>
          </a:solidFill>
          <a:ln w="12700">
            <a:solidFill>
              <a:srgbClr val="1A0D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0" y="1417320"/>
            <a:ext cx="73152" cy="73152"/>
          </a:xfrm>
          <a:prstGeom prst="ellipse">
            <a:avLst/>
          </a:prstGeom>
          <a:solidFill>
            <a:srgbClr val="1A0D35"/>
          </a:solidFill>
          <a:ln w="12700">
            <a:solidFill>
              <a:srgbClr val="1A0D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2286000"/>
            <a:ext cx="73152" cy="73152"/>
          </a:xfrm>
          <a:prstGeom prst="ellipse">
            <a:avLst/>
          </a:prstGeom>
          <a:solidFill>
            <a:srgbClr val="1A0D35"/>
          </a:solidFill>
          <a:ln w="12700">
            <a:solidFill>
              <a:srgbClr val="1A0D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0" y="2286000"/>
            <a:ext cx="73152" cy="73152"/>
          </a:xfrm>
          <a:prstGeom prst="ellipse">
            <a:avLst/>
          </a:prstGeom>
          <a:solidFill>
            <a:srgbClr val="1A0D35"/>
          </a:solidFill>
          <a:ln w="12700">
            <a:solidFill>
              <a:srgbClr val="1A0D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3154680"/>
            <a:ext cx="73152" cy="73152"/>
          </a:xfrm>
          <a:prstGeom prst="ellipse">
            <a:avLst/>
          </a:prstGeom>
          <a:solidFill>
            <a:srgbClr val="1A0D35"/>
          </a:solidFill>
          <a:ln w="12700">
            <a:solidFill>
              <a:srgbClr val="1A0D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0" y="3154680"/>
            <a:ext cx="73152" cy="73152"/>
          </a:xfrm>
          <a:prstGeom prst="ellipse">
            <a:avLst/>
          </a:prstGeom>
          <a:solidFill>
            <a:srgbClr val="1A0D35"/>
          </a:solidFill>
          <a:ln w="12700">
            <a:solidFill>
              <a:srgbClr val="1A0D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4023360"/>
            <a:ext cx="73152" cy="73152"/>
          </a:xfrm>
          <a:prstGeom prst="ellipse">
            <a:avLst/>
          </a:prstGeom>
          <a:solidFill>
            <a:srgbClr val="1A0D35"/>
          </a:solidFill>
          <a:ln w="12700">
            <a:solidFill>
              <a:srgbClr val="1A0D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0" y="4023360"/>
            <a:ext cx="73152" cy="73152"/>
          </a:xfrm>
          <a:prstGeom prst="ellipse">
            <a:avLst/>
          </a:prstGeom>
          <a:solidFill>
            <a:srgbClr val="1A0D35"/>
          </a:solidFill>
          <a:ln w="12700">
            <a:solidFill>
              <a:srgbClr val="1A0D35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822960"/>
            <a:ext cx="1097280" cy="109728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57200" y="109728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17" name="Shape 14"/>
          <p:cNvSpPr/>
          <p:nvPr/>
        </p:nvSpPr>
        <p:spPr>
          <a:xfrm>
            <a:off x="457200" y="2057400"/>
            <a:ext cx="5029200" cy="0"/>
          </a:xfrm>
          <a:prstGeom prst="line">
            <a:avLst/>
          </a:prstGeom>
          <a:noFill/>
          <a:ln w="19050">
            <a:solidFill>
              <a:srgbClr val="3D2B7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2212848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39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Lab Time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457200" y="2816352"/>
            <a:ext cx="53949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2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exercises: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39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Lab 1: Simple types — primitives, enums, custom ParamConverter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39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Lab 2: @Consumes/@Produces — content negotiation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39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Lab 3: @XXXParam — all param sources + @BeanParam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39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Lab 4: Return types — Response builder patterns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39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Lab 5: Binary + file download + path traversal security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Parameter and Return Types</dc:title>
  <dc:subject>PptxGenJS Presentation</dc:subject>
  <dc:creator>PptxGenJS</dc:creator>
  <cp:lastModifiedBy>PptxGenJS</cp:lastModifiedBy>
  <cp:revision>1</cp:revision>
  <dcterms:created xsi:type="dcterms:W3CDTF">2026-04-22T08:58:37Z</dcterms:created>
  <dcterms:modified xsi:type="dcterms:W3CDTF">2026-04-22T08:58:37Z</dcterms:modified>
</cp:coreProperties>
</file>