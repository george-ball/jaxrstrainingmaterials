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0"/>
            <a:ext cx="64008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4572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4572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4572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3716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3720" y="13716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3716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2860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22860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22860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32004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32004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32004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41148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41148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4114800"/>
            <a:ext cx="64008" cy="64008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777240"/>
            <a:ext cx="1188720" cy="11887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57200" y="960120"/>
            <a:ext cx="2651760" cy="2926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TRAINING COURSE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57200" y="1426464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457200" y="1975104"/>
            <a:ext cx="5394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to Methods</a:t>
            </a:r>
            <a:endParaRPr lang="en-US" sz="3800" dirty="0"/>
          </a:p>
        </p:txBody>
      </p:sp>
      <p:sp>
        <p:nvSpPr>
          <p:cNvPr id="25" name="Text 22"/>
          <p:cNvSpPr/>
          <p:nvPr/>
        </p:nvSpPr>
        <p:spPr>
          <a:xfrm>
            <a:off x="457200" y="2834640"/>
            <a:ext cx="5394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2.x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457200" y="3383280"/>
            <a:ext cx="5120640" cy="0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493008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@ApplicationPath · @Path templates · Regex constraints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 annotations · Content negotiation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Sub-resource locators · Annotation inheritance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4663440"/>
            <a:ext cx="109728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LTS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691640" y="4663440"/>
            <a:ext cx="1097280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9164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9.0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2926080" y="4663440"/>
            <a:ext cx="1097280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2608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2.1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160520" y="4663440"/>
            <a:ext cx="109728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6052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Jersey 2.x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Sections  |  Request Dispatch Deep Dive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45720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50976" y="1225296"/>
            <a:ext cx="7845552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22529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ApplicationPath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965960"/>
            <a:ext cx="45720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50976" y="2020824"/>
            <a:ext cx="7845552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02082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@Path Annotation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2761488"/>
            <a:ext cx="457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0976" y="2816352"/>
            <a:ext cx="7845552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81635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 Annotations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3557016"/>
            <a:ext cx="45720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0976" y="3611880"/>
            <a:ext cx="7845552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61188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Sub-resource Locators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7472" y="4352544"/>
            <a:ext cx="4572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50976" y="4407408"/>
            <a:ext cx="7845552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40740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Inheritance and Overriding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Three-Part URI — How Dispatch Begins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256032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/shop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1975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2494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deployment name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90672" y="1417320"/>
            <a:ext cx="2926080" cy="10972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90672" y="1975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@ApplicationPath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90672" y="22494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subclass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99632" y="1417320"/>
            <a:ext cx="2596896" cy="10972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41732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/products/P001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9632" y="197510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Path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9632" y="22494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@Path annotations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0" y="1975104"/>
            <a:ext cx="164592" cy="0"/>
          </a:xfrm>
          <a:prstGeom prst="line">
            <a:avLst/>
          </a:prstGeom>
          <a:noFill/>
          <a:ln w="12700">
            <a:solidFill>
              <a:srgbClr val="3747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975104"/>
            <a:ext cx="164592" cy="0"/>
          </a:xfrm>
          <a:prstGeom prst="line">
            <a:avLst/>
          </a:prstGeom>
          <a:noFill/>
          <a:ln w="12700">
            <a:solidFill>
              <a:srgbClr val="3747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743200"/>
            <a:ext cx="8449056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4320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http://host:8080 /shop /api /products/P001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84048" y="3429000"/>
            <a:ext cx="182880" cy="18288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3832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@ApplicationPath must start with /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" y="3776472"/>
            <a:ext cx="182880" cy="18288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7307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include a trailing /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4048" y="4123944"/>
            <a:ext cx="182880" cy="18288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0782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appends /* when registering the Servlet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4048" y="4471416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42569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Applications must have different paths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The ApplicationPath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@ApplicationPath in 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8449056" cy="3474720"/>
          </a:xfrm>
          <a:prstGeom prst="rect">
            <a:avLst/>
          </a:prstGeom>
          <a:solidFill>
            <a:srgbClr val="1A2332"/>
          </a:solidFill>
          <a:ln w="12700">
            <a:solidFill>
              <a:srgbClr val="2A3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Minimal — classpath scanning discovers @Path and @Provider classes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@ApplicationPath("/api")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ShopApplication extends Application {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Versioned — two apps in one WAR, each at a different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@ApplicationPath("/api/v1")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ApiV1Application extends Application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Set&lt;Class&lt;?&gt;&gt; getClasses()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Set.of(V1ProductResource.class, V1OrderResource.class);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@ApplicationPath("/api/v2")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ApiV2Application extends Application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Set&lt;Class&lt;?&gt;&gt; getClasses()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Set.of(V2ProductResource.class, V2OrderResource.class);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RULE: returning ANY non-empty Set disables classpath scanning!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The ApplicationPath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@Path — Class Level and Method Level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5120640" cy="3456432"/>
          </a:xfrm>
          <a:prstGeom prst="rect">
            <a:avLst/>
          </a:prstGeom>
          <a:solidFill>
            <a:srgbClr val="1A2332"/>
          </a:solidFill>
          <a:ln w="12700">
            <a:solidFill>
              <a:srgbClr val="2A3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4901184" cy="3236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@Path("/orders")               // class: base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OrderResource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                         // GET /orders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List&lt;Order&gt; list()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@Path("{id}")               // GET /orders/{id}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Order get(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@PathParam("id") String id)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@Path("{id}/status")        // GET /orders/{id}/status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status(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@PathParam("id") String id)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@Path("{id}/lines")         // POST /orders/{id}/lines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Response addLine(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@PathParam("id") String 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OrderLine line)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0" y="1444752"/>
            <a:ext cx="347472" cy="3474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08192" y="1353312"/>
            <a:ext cx="2688336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9632" y="1353312"/>
            <a:ext cx="250545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path = class @Path + method @Path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2139696"/>
            <a:ext cx="347472" cy="3474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08192" y="2048256"/>
            <a:ext cx="2688336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9632" y="2048256"/>
            <a:ext cx="250545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Slashes at boundaries are normalised automatically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2834640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08192" y="2743200"/>
            <a:ext cx="2688336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99632" y="2743200"/>
            <a:ext cx="250545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{variable} captures any non-slash sequence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3529584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08192" y="3438144"/>
            <a:ext cx="2688336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99632" y="3438144"/>
            <a:ext cx="250545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@PathParam converts String to target type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4224528"/>
            <a:ext cx="347472" cy="3474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08192" y="4133088"/>
            <a:ext cx="2688336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99632" y="4133088"/>
            <a:ext cx="250545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 failure → 404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The @Path Annotation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Regex-Constrained Templates &amp; Matching Priority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5029200" cy="2468880"/>
          </a:xfrm>
          <a:prstGeom prst="rect">
            <a:avLst/>
          </a:prstGeom>
          <a:solidFill>
            <a:srgbClr val="1A2332"/>
          </a:solidFill>
          <a:ln w="12700">
            <a:solidFill>
              <a:srgbClr val="2A3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4809744" cy="2249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Digits only: GET /products/42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 @Path("{id: \\d+}")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Product getById(@PathParam("id") int id){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SKU pattern: GET /products/WIDGET-001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 @Path("{sku: [A-Z]+-\\d+}")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Product getBySku(@PathParam("sku") String s){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Greedy path: GET /files/a/b/c.txt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 @Path("files/{path: .+}")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 getFile(@PathParam("path") String p){ }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59552" y="137160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Tiebreaker Rules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59552" y="1719072"/>
            <a:ext cx="32461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59552" y="1719072"/>
            <a:ext cx="329184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9552" y="1719072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75564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literals win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0" y="2066544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/orders/active  beats  /orders/{id}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59552" y="2468880"/>
            <a:ext cx="32461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59552" y="2468880"/>
            <a:ext cx="329184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9552" y="2468880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2505456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variables win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0" y="2816352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/orders/{id}/s  beats  /orders/{a}/{b}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59552" y="3218688"/>
            <a:ext cx="32461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59552" y="3218688"/>
            <a:ext cx="329184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3218688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3255264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beats plain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0" y="3566160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{id:\\d+}  beats  {id}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59552" y="3968496"/>
            <a:ext cx="32461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59552" y="3968496"/>
            <a:ext cx="329184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3968496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0" y="4005072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specificity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0" y="431596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application/xml   beats  */*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3931920"/>
            <a:ext cx="502920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59352"/>
            <a:ext cx="4809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Rule: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187952"/>
            <a:ext cx="4809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literal (specific) path always beats a template.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/orders/pending beats /orders/{id} for GET /orders/pending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The @Path Annotation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 Annotations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137160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17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7360" y="1417320"/>
            <a:ext cx="7315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4173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1417320"/>
            <a:ext cx="91440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417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9856" y="1417320"/>
            <a:ext cx="475488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417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1792224"/>
            <a:ext cx="137160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792224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37360" y="1792224"/>
            <a:ext cx="73152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92224" y="1792224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87168" y="1792224"/>
            <a:ext cx="91440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1792224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19856" y="1792224"/>
            <a:ext cx="475488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792224"/>
            <a:ext cx="4645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resource / collection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2231136"/>
            <a:ext cx="1371600" cy="402336"/>
          </a:xfrm>
          <a:prstGeom prst="rect">
            <a:avLst/>
          </a:prstGeom>
          <a:solidFill>
            <a:srgbClr val="0D1E30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23113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37360" y="2231136"/>
            <a:ext cx="731520" cy="402336"/>
          </a:xfrm>
          <a:prstGeom prst="rect">
            <a:avLst/>
          </a:prstGeom>
          <a:solidFill>
            <a:srgbClr val="0D1E30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92224" y="2231136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87168" y="2231136"/>
            <a:ext cx="914400" cy="402336"/>
          </a:xfrm>
          <a:prstGeom prst="rect">
            <a:avLst/>
          </a:prstGeom>
          <a:solidFill>
            <a:srgbClr val="0D1E30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2231136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19856" y="2231136"/>
            <a:ext cx="4754880" cy="402336"/>
          </a:xfrm>
          <a:prstGeom prst="rect">
            <a:avLst/>
          </a:prstGeom>
          <a:solidFill>
            <a:srgbClr val="0D1E30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231136"/>
            <a:ext cx="4645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resource or trigger action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2670048"/>
            <a:ext cx="137160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267004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@PUT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37360" y="2670048"/>
            <a:ext cx="73152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92224" y="2670048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87168" y="2670048"/>
            <a:ext cx="91440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2670048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19856" y="2670048"/>
            <a:ext cx="475488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2670048"/>
            <a:ext cx="4645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replacement of a resource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" y="3108960"/>
            <a:ext cx="1371600" cy="402336"/>
          </a:xfrm>
          <a:prstGeom prst="rect">
            <a:avLst/>
          </a:prstGeom>
          <a:solidFill>
            <a:srgbClr val="0D1E30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310896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2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@PATCH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737360" y="3108960"/>
            <a:ext cx="731520" cy="402336"/>
          </a:xfrm>
          <a:prstGeom prst="rect">
            <a:avLst/>
          </a:prstGeom>
          <a:solidFill>
            <a:srgbClr val="0D1E30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92224" y="3108960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87168" y="3108960"/>
            <a:ext cx="914400" cy="402336"/>
          </a:xfrm>
          <a:prstGeom prst="rect">
            <a:avLst/>
          </a:prstGeom>
          <a:solidFill>
            <a:srgbClr val="0D1E30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108960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19856" y="3108960"/>
            <a:ext cx="4754880" cy="402336"/>
          </a:xfrm>
          <a:prstGeom prst="rect">
            <a:avLst/>
          </a:prstGeom>
          <a:solidFill>
            <a:srgbClr val="0D1E30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0" y="3108960"/>
            <a:ext cx="4645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update of a resource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7472" y="3547872"/>
            <a:ext cx="137160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" y="354787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@DELETE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737360" y="3547872"/>
            <a:ext cx="73152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92224" y="3547872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487168" y="3547872"/>
            <a:ext cx="91440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2032" y="3547872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19856" y="3547872"/>
            <a:ext cx="475488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0" y="3547872"/>
            <a:ext cx="4645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resource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7472" y="3986784"/>
            <a:ext cx="1371600" cy="402336"/>
          </a:xfrm>
          <a:prstGeom prst="rect">
            <a:avLst/>
          </a:prstGeom>
          <a:solidFill>
            <a:srgbClr val="0D1E30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2336" y="3986784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@HEAD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737360" y="3986784"/>
            <a:ext cx="731520" cy="402336"/>
          </a:xfrm>
          <a:prstGeom prst="rect">
            <a:avLst/>
          </a:prstGeom>
          <a:solidFill>
            <a:srgbClr val="0D1E30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92224" y="3986784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487168" y="3986784"/>
            <a:ext cx="914400" cy="402336"/>
          </a:xfrm>
          <a:prstGeom prst="rect">
            <a:avLst/>
          </a:prstGeom>
          <a:solidFill>
            <a:srgbClr val="0D1E30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42032" y="3986784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419856" y="3986784"/>
            <a:ext cx="4754880" cy="402336"/>
          </a:xfrm>
          <a:prstGeom prst="rect">
            <a:avLst/>
          </a:prstGeom>
          <a:solidFill>
            <a:srgbClr val="0D1E30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0" y="3986784"/>
            <a:ext cx="4645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GET, no body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47472" y="4425696"/>
            <a:ext cx="137160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2336" y="4425696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@OPTIONS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737360" y="4425696"/>
            <a:ext cx="73152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92224" y="4425696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487168" y="4425696"/>
            <a:ext cx="91440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42032" y="4425696"/>
            <a:ext cx="804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419856" y="4425696"/>
            <a:ext cx="4754880" cy="402336"/>
          </a:xfrm>
          <a:prstGeom prst="rect">
            <a:avLst/>
          </a:prstGeom>
          <a:solidFill>
            <a:srgbClr val="091828"/>
          </a:solidFill>
          <a:ln w="3810">
            <a:solidFill>
              <a:srgbClr val="1E3A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0" y="4425696"/>
            <a:ext cx="4645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methods / CORS pre-flight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HTTP Method Annotations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Status Codes by Convention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201168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71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95728" y="1371600"/>
            <a:ext cx="228600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13716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18304" y="1371600"/>
            <a:ext cx="365760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3716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1737360"/>
            <a:ext cx="201168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73736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@GET (found)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95728" y="1737360"/>
            <a:ext cx="228600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7373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18304" y="1737360"/>
            <a:ext cx="365760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73736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contains the representation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093976"/>
            <a:ext cx="20116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093976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@GET (not found)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95728" y="2093976"/>
            <a:ext cx="22860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2093976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 Not Found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18304" y="2093976"/>
            <a:ext cx="3657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093976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does not exist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450592"/>
            <a:ext cx="201168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450592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@POST (create)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95728" y="2450592"/>
            <a:ext cx="228600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0592" y="2450592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18304" y="2450592"/>
            <a:ext cx="365760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450592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header → new resource URI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2807208"/>
            <a:ext cx="20116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280720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@POST (action)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95728" y="2807208"/>
            <a:ext cx="22860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2807208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18304" y="2807208"/>
            <a:ext cx="3657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2807208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 body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3163824"/>
            <a:ext cx="201168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163824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@PUT / @PATCH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95728" y="3163824"/>
            <a:ext cx="228600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3163824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18304" y="3163824"/>
            <a:ext cx="365760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163824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representation in body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7472" y="3520440"/>
            <a:ext cx="20116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35204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@DELETE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95728" y="3520440"/>
            <a:ext cx="22860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0592" y="352044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 No Content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18304" y="3520440"/>
            <a:ext cx="3657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352044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body expected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7472" y="3877056"/>
            <a:ext cx="201168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" y="3877056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verb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395728" y="3877056"/>
            <a:ext cx="228600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50592" y="3877056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405 Method Not Allowed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18304" y="3877056"/>
            <a:ext cx="365760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73168" y="3877056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exists but not for that verb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7472" y="4233672"/>
            <a:ext cx="20116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2336" y="4233672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Content-Type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395728" y="4233672"/>
            <a:ext cx="22860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50592" y="4233672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415 Unsupported Media Type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18304" y="4233672"/>
            <a:ext cx="3657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73168" y="4233672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method @Consumes that type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47472" y="4590288"/>
            <a:ext cx="201168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2336" y="459028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Accept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395728" y="4590288"/>
            <a:ext cx="228600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50592" y="4590288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406 Not Acceptable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18304" y="4590288"/>
            <a:ext cx="3657600" cy="320040"/>
          </a:xfrm>
          <a:prstGeom prst="rect">
            <a:avLst/>
          </a:prstGeom>
          <a:solidFill>
            <a:srgbClr val="ECEFF1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4590288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method @Produces matching type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HTTP Method Annotations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Sub-resource Locators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21615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locator returns a handler — the runtime dispatches to the returned object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416052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642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Sub-resource METHOD  (@Path + verb)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64208"/>
            <a:ext cx="4041648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6420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Sub-resource LOCATOR  (@Path only)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066544"/>
            <a:ext cx="4160520" cy="2743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A3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76272"/>
            <a:ext cx="3941064" cy="2523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 @GET — handles request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@Path("{id}/status")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@Produces(TEXT_PLAIN)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getStatus(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@PathParam("id") String id){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svc.find(id).getStatus();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2066544"/>
            <a:ext cx="4041648" cy="2743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A3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176272"/>
            <a:ext cx="3822192" cy="2523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verb — returns a handler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@Path("{storeId}/inventory")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InventoryResource locator(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@PathParam("storeId") String id){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 s = storeSvc.find(id);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if(s==null)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NotFoundException();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InventoryResource(s);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Sub-resource Locators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Dispatch Flow &amp; CDI Injection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16002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426464"/>
            <a:ext cx="1490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arrives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901952"/>
            <a:ext cx="1527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/stores/S01/inventory/SKU-1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47672" y="1883664"/>
            <a:ext cx="137160" cy="0"/>
          </a:xfrm>
          <a:prstGeom prst="line">
            <a:avLst/>
          </a:prstGeom>
          <a:noFill/>
          <a:ln w="12700">
            <a:solidFill>
              <a:srgbClr val="3747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371600"/>
            <a:ext cx="1600200" cy="10058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1426464"/>
            <a:ext cx="1490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StoreResource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21408" y="1901952"/>
            <a:ext cx="1527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@Path("/stores")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85032" y="1883664"/>
            <a:ext cx="137160" cy="0"/>
          </a:xfrm>
          <a:prstGeom prst="line">
            <a:avLst/>
          </a:prstGeom>
          <a:noFill/>
          <a:ln w="12700">
            <a:solidFill>
              <a:srgbClr val="3747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2192" y="1371600"/>
            <a:ext cx="1600200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1426464"/>
            <a:ext cx="1490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locator method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58768" y="1901952"/>
            <a:ext cx="1527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@Path("{storeId}/inventory")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22392" y="1883664"/>
            <a:ext cx="137160" cy="0"/>
          </a:xfrm>
          <a:prstGeom prst="line">
            <a:avLst/>
          </a:prstGeom>
          <a:noFill/>
          <a:ln w="12700">
            <a:solidFill>
              <a:srgbClr val="3747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9552" y="1371600"/>
            <a:ext cx="1600200" cy="10058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1426464"/>
            <a:ext cx="1490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Introspect returned object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96128" y="1901952"/>
            <a:ext cx="1527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InventoryResource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59752" y="1883664"/>
            <a:ext cx="137160" cy="0"/>
          </a:xfrm>
          <a:prstGeom prst="line">
            <a:avLst/>
          </a:prstGeom>
          <a:noFill/>
          <a:ln w="12700">
            <a:solidFill>
              <a:srgbClr val="3747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371600"/>
            <a:ext cx="16002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426464"/>
            <a:ext cx="1490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to @GET method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33488" y="1901952"/>
            <a:ext cx="1527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@Path("{sku}")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2578608"/>
            <a:ext cx="8449056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 injection does NOT work in instances created with 'new'. Use ResourceContext.initResource() to enable it.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3017520"/>
            <a:ext cx="8449056" cy="1792224"/>
          </a:xfrm>
          <a:prstGeom prst="rect">
            <a:avLst/>
          </a:prstGeom>
          <a:solidFill>
            <a:srgbClr val="1A2332"/>
          </a:solidFill>
          <a:ln w="12700">
            <a:solidFill>
              <a:srgbClr val="2A3D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127248"/>
            <a:ext cx="82296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Enable CDI injection in the sub-resource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@Path("{storeId}/inventory")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InventoryResource locator(@PathParam("storeId") String 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@Context ResourceContext rc)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InventoryResource resource = new InventoryResource();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rc.initResource(resource);   // triggers CDI injection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resource.setStore(storeSvc.find(id));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resource;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Sub-resource Locators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Inheritance Rules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572768"/>
            <a:ext cx="4160520" cy="960120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572768"/>
            <a:ext cx="64008" cy="9601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6276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@Path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" y="1938528"/>
            <a:ext cx="2011680" cy="21945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inherited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3776" y="22128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with no @Path inherits from superclass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651760"/>
            <a:ext cx="4160520" cy="960120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651760"/>
            <a:ext cx="64008" cy="9601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70662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@Path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" y="3017520"/>
            <a:ext cx="2011680" cy="21945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3017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inherited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" y="32918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class inherits interface annotations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730752"/>
            <a:ext cx="4160520" cy="960120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730752"/>
            <a:ext cx="64008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7856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@GET / @Path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" y="4096512"/>
            <a:ext cx="2011680" cy="21945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4096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inherited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" y="43708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override must redeclare ALL method annotations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572768"/>
            <a:ext cx="4160520" cy="960120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572768"/>
            <a:ext cx="64008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16276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method override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01184" y="1938528"/>
            <a:ext cx="2011680" cy="21945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01184" y="22128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annotation added → ALL parent annotations ignored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651760"/>
            <a:ext cx="4160520" cy="960120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651760"/>
            <a:ext cx="64008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270662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@Provider on superclass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01184" y="3017520"/>
            <a:ext cx="2011680" cy="21945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3017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inherited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01184" y="32918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 class needs its own @Provider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730752"/>
            <a:ext cx="4160520" cy="960120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730752"/>
            <a:ext cx="64008" cy="9601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37856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@PathParam on interface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01184" y="4096512"/>
            <a:ext cx="2011680" cy="21945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4096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inherited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01184" y="43708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annotations propagate with the method contract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Annotation Inheritance and Overriding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Contract + Implementation — Best Practice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4297680" cy="3456432"/>
          </a:xfrm>
          <a:prstGeom prst="rect">
            <a:avLst/>
          </a:prstGeom>
          <a:solidFill>
            <a:srgbClr val="1A2332"/>
          </a:solidFill>
          <a:ln w="12700">
            <a:solidFill>
              <a:srgbClr val="2A3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4078224" cy="3236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Interface — REST contract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@Path("/products")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@Produces(APPLICATION_XML)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@Consumes(APPLICATION_XML)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ProductService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List&lt;Product&gt; listAll();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 @Path("{id}")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 findById(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@PathParam("id") String 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 create(Product p,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@Context UriInfo ui);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73168" y="1353312"/>
            <a:ext cx="4023360" cy="3456432"/>
          </a:xfrm>
          <a:prstGeom prst="rect">
            <a:avLst/>
          </a:prstGeom>
          <a:solidFill>
            <a:srgbClr val="1A2332"/>
          </a:solidFill>
          <a:ln w="12700">
            <a:solidFill>
              <a:srgbClr val="2A3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2896" y="1463040"/>
            <a:ext cx="3803904" cy="3236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— inherits @Path, @Produces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ProductResource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implements ProductService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@Inject ProductRepository repo;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@GET inherited — don't redeclare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List&lt;Product&gt; listAll()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repo.findAll();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Product findById(String id){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repo.findById(id);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Response create(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Product p, UriInfo ui){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Annotation Inheritance and Overriding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Override — All or Nothing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8449056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350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If a subclass method adds ANY JAX-RS annotation, ALL parent annotations are ignored. No partial inheritance.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773936"/>
            <a:ext cx="4251960" cy="3108960"/>
          </a:xfrm>
          <a:prstGeom prst="rect">
            <a:avLst/>
          </a:prstGeom>
          <a:solidFill>
            <a:srgbClr val="1A2332"/>
          </a:solidFill>
          <a:ln w="12700">
            <a:solidFill>
              <a:srgbClr val="2A3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83664"/>
            <a:ext cx="4032504" cy="288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Base 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@Path("/reports")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ReportResource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@Produces(APPLICATION_XML)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List&lt;Report&gt; list()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Subclass — CORRECT override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@Path("/admin/reports")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AdminReportResource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extends ReportResource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                   // must redeclare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@Produces({APPLICATION_XML,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"text/csv"}) // add 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List&lt;Report&gt; list()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super.list();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1773936"/>
            <a:ext cx="4041648" cy="3108960"/>
          </a:xfrm>
          <a:prstGeom prst="rect">
            <a:avLst/>
          </a:prstGeom>
          <a:solidFill>
            <a:srgbClr val="1A2332"/>
          </a:solidFill>
          <a:ln w="12700">
            <a:solidFill>
              <a:srgbClr val="2A3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883664"/>
            <a:ext cx="3822192" cy="288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 — @GET is lost!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list() becomes a locator,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 a resource method.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Missing @GET ← PROBLEM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@Produces({APPLICATION_XML,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"text/csv"})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List&lt;Report&gt; list()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super.list();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This method is now invisible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 JAX-RS dispatch — no verb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annotation means it 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treated as a sub-resource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locator, not a @GET handler.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Annotation Inheritance and Overriding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Dispatch Decision 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" y="1572768"/>
            <a:ext cx="3749040" cy="566928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5727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context root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2322576"/>
            <a:ext cx="384048" cy="38404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" y="2231136"/>
            <a:ext cx="3749040" cy="566928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2311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@ApplicationPath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7472" y="2980944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2889504"/>
            <a:ext cx="3749040" cy="566928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288950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class @Path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39312" y="288950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404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639312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" y="3547872"/>
            <a:ext cx="3749040" cy="566928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5478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method @Path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39312" y="3547872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404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429768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4672" y="4206240"/>
            <a:ext cx="3749040" cy="566928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42062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HTTP verb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39312" y="420624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405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664208"/>
            <a:ext cx="384048" cy="38404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120640" y="1572768"/>
            <a:ext cx="3749040" cy="566928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15727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@Consumes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157276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415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322576"/>
            <a:ext cx="384048" cy="38404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120640" y="2231136"/>
            <a:ext cx="3749040" cy="566928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93792" y="22311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@Produces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955280" y="223113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406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2980944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120640" y="2889504"/>
            <a:ext cx="3749040" cy="566928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288950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tiebreakers → select one method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663440" y="3639312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120640" y="3547872"/>
            <a:ext cx="3749040" cy="566928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93792" y="35478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or chain locator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— Complete Dispatch Flow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4160520" cy="1051560"/>
          </a:xfrm>
          <a:prstGeom prst="rect">
            <a:avLst/>
          </a:prstGeom>
          <a:solidFill>
            <a:srgbClr val="060E1A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15568"/>
            <a:ext cx="502920" cy="10515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1298448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URI = context root + @ApplicationPath + @Path (class + method).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60520" cy="1051560"/>
          </a:xfrm>
          <a:prstGeom prst="rect">
            <a:avLst/>
          </a:prstGeom>
          <a:solidFill>
            <a:srgbClr val="060E1A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15568"/>
            <a:ext cx="502920" cy="10515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15568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298448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Literals beat template variables; regex beats plain templates in matching.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350008"/>
            <a:ext cx="4160520" cy="1051560"/>
          </a:xfrm>
          <a:prstGeom prst="rect">
            <a:avLst/>
          </a:prstGeom>
          <a:solidFill>
            <a:srgbClr val="060E1A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350008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350008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832" y="2532888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HTTP verb has a corresponding annotation; safe/idempotent properties drive API design.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350008"/>
            <a:ext cx="4160520" cy="1051560"/>
          </a:xfrm>
          <a:prstGeom prst="rect">
            <a:avLst/>
          </a:prstGeom>
          <a:solidFill>
            <a:srgbClr val="060E1A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350008"/>
            <a:ext cx="502920" cy="10515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350008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532888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locator has @Path but no verb — it returns an object the runtime then dispatches to.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3584448"/>
            <a:ext cx="4160520" cy="1051560"/>
          </a:xfrm>
          <a:prstGeom prst="rect">
            <a:avLst/>
          </a:prstGeom>
          <a:solidFill>
            <a:srgbClr val="060E1A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584448"/>
            <a:ext cx="502920" cy="10515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584448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1832" y="3767328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annotations inherit; method annotations do NOT — all or nothing on subclass override.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584448"/>
            <a:ext cx="4160520" cy="1051560"/>
          </a:xfrm>
          <a:prstGeom prst="rect">
            <a:avLst/>
          </a:prstGeom>
          <a:solidFill>
            <a:srgbClr val="060E1A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584448"/>
            <a:ext cx="502920" cy="10515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584448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3767328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errors: 404 (no match), 405 (wrong verb), 415 (Content-Type), 406 (Accept).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Requests to Methods  |  JAX-RS 2.x  |  Java 11 / Tomcat 9.0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E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64008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4572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4572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4572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3716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13716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3716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2860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22860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2860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2004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32004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32004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41148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41148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4114800"/>
            <a:ext cx="73152" cy="73152"/>
          </a:xfrm>
          <a:prstGeom prst="ellipse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822960"/>
            <a:ext cx="1097280" cy="10972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10972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2" name="Shape 19"/>
          <p:cNvSpPr/>
          <p:nvPr/>
        </p:nvSpPr>
        <p:spPr>
          <a:xfrm>
            <a:off x="457200" y="2057400"/>
            <a:ext cx="5029200" cy="0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21284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Lab Time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57200" y="283464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1: @ApplicationPath — deploy two API versions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2: @Path templates — literals, variables, regex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3: HTTP methods — CRUD + content negotiation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4: Sub-resource locators — hierarchy design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5: Annotation inheritance — interface contracts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Dispatching Requests to Methods</dc:title>
  <dc:subject>PptxGenJS Presentation</dc:subject>
  <dc:creator>Technical Training</dc:creator>
  <cp:lastModifiedBy>Technical Training</cp:lastModifiedBy>
  <cp:revision>1</cp:revision>
  <dcterms:created xsi:type="dcterms:W3CDTF">2026-04-21T17:30:39Z</dcterms:created>
  <dcterms:modified xsi:type="dcterms:W3CDTF">2026-04-21T17:30:39Z</dcterms:modified>
</cp:coreProperties>
</file>