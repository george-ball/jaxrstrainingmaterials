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F3F"/>
          </a:solidFill>
          <a:ln w="12700">
            <a:solidFill>
              <a:srgbClr val="0C1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0"/>
            <a:ext cx="3017520" cy="5143500"/>
          </a:xfrm>
          <a:prstGeom prst="rect">
            <a:avLst/>
          </a:prstGeom>
          <a:solidFill>
            <a:srgbClr val="071428"/>
          </a:solidFill>
          <a:ln w="12700">
            <a:solidFill>
              <a:srgbClr val="0714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26480" y="0"/>
            <a:ext cx="54864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92240" y="411480"/>
            <a:ext cx="64008" cy="64008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949440" y="411480"/>
            <a:ext cx="64008" cy="64008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0" y="411480"/>
            <a:ext cx="64008" cy="64008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0" y="411480"/>
            <a:ext cx="64008" cy="64008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325880"/>
            <a:ext cx="64008" cy="64008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0" y="1325880"/>
            <a:ext cx="64008" cy="64008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0" y="1325880"/>
            <a:ext cx="64008" cy="64008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0" y="1325880"/>
            <a:ext cx="64008" cy="64008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2240280"/>
            <a:ext cx="64008" cy="64008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49440" y="2240280"/>
            <a:ext cx="64008" cy="64008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06640" y="2240280"/>
            <a:ext cx="64008" cy="64008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2240280"/>
            <a:ext cx="64008" cy="64008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3154680"/>
            <a:ext cx="64008" cy="64008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949440" y="3154680"/>
            <a:ext cx="64008" cy="64008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06640" y="3154680"/>
            <a:ext cx="64008" cy="64008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863840" y="3154680"/>
            <a:ext cx="64008" cy="64008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4069080"/>
            <a:ext cx="64008" cy="64008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49440" y="4069080"/>
            <a:ext cx="64008" cy="64008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0" y="4069080"/>
            <a:ext cx="64008" cy="64008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4069080"/>
            <a:ext cx="64008" cy="64008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822960"/>
            <a:ext cx="1188720" cy="118872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457200" y="960120"/>
            <a:ext cx="2560320" cy="2926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9601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TRAINING COURSE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200" y="1417320"/>
            <a:ext cx="5486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6B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for</a:t>
            </a:r>
            <a:endParaRPr lang="en-US" sz="3600" dirty="0"/>
          </a:p>
        </p:txBody>
      </p:sp>
      <p:sp>
        <p:nvSpPr>
          <p:cNvPr id="29" name="Text 26"/>
          <p:cNvSpPr/>
          <p:nvPr/>
        </p:nvSpPr>
        <p:spPr>
          <a:xfrm>
            <a:off x="457200" y="19659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EE</a:t>
            </a:r>
            <a:endParaRPr lang="en-US" sz="5400" dirty="0"/>
          </a:p>
        </p:txBody>
      </p:sp>
      <p:sp>
        <p:nvSpPr>
          <p:cNvPr id="30" name="Shape 27"/>
          <p:cNvSpPr/>
          <p:nvPr/>
        </p:nvSpPr>
        <p:spPr>
          <a:xfrm>
            <a:off x="457200" y="2926080"/>
            <a:ext cx="539496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3017520"/>
            <a:ext cx="5394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JAX-WS · JAXB · SAAJ · JAXP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JAX-RS for RESTful Services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Metadata (JSR 181)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6B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&amp; Dispatch APIs · JAXR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57200" y="4800600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A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2-Day Course  |  Intermediate – Java EE Developer / Architect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F3F"/>
          </a:solidFill>
          <a:ln w="12700">
            <a:solidFill>
              <a:srgbClr val="0C1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71428"/>
          </a:solidFill>
          <a:ln w="12700">
            <a:solidFill>
              <a:srgbClr val="0714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AGENDA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Sections — 2 Days — Code Labs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1170432"/>
            <a:ext cx="438912" cy="43891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170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95528" y="12161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for Hosting Web Services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929384"/>
            <a:ext cx="438912" cy="4389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929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7510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in Java EE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688336"/>
            <a:ext cx="438912" cy="43891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6883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5528" y="273405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JAX-WS and JAXB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3447288"/>
            <a:ext cx="438912" cy="4389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" y="34930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Metadata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4206240"/>
            <a:ext cx="438912" cy="43891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4206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95528" y="4251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WSDL to Java and Java to WSDL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170432"/>
            <a:ext cx="438912" cy="4389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17043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76088" y="12161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and Dispatch APIs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929384"/>
            <a:ext cx="438912" cy="43891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19293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276088" y="1975104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SAAJ and JAXP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2688336"/>
            <a:ext cx="438912" cy="4389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2688336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276088" y="2734056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JAX-RS for RESTful Services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3447288"/>
            <a:ext cx="438912" cy="43891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44728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76088" y="34930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JAXR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for Java EE — Technical Training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F3F"/>
          </a:solidFill>
          <a:ln w="12700">
            <a:solidFill>
              <a:srgbClr val="0C1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5943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for Hosting Web Services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47472" y="1572768"/>
            <a:ext cx="4160520" cy="1188720"/>
          </a:xfrm>
          <a:prstGeom prst="rect">
            <a:avLst/>
          </a:prstGeom>
          <a:solidFill>
            <a:srgbClr val="0714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572768"/>
            <a:ext cx="64008" cy="11887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1737360"/>
            <a:ext cx="457200" cy="4572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6642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Integration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2121408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exchange orders/invoices over HTTPS using SOAP+WS-Security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1572768"/>
            <a:ext cx="4160520" cy="1188720"/>
          </a:xfrm>
          <a:prstGeom prst="rect">
            <a:avLst/>
          </a:prstGeom>
          <a:solidFill>
            <a:srgbClr val="0714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572768"/>
            <a:ext cx="64008" cy="11887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1737360"/>
            <a:ext cx="457200" cy="45720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504688" y="166420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SOA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10328" y="2121408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Monolith decomposed — EJB endpoints consumed by portal + batch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" y="2990088"/>
            <a:ext cx="4160520" cy="1188720"/>
          </a:xfrm>
          <a:prstGeom prst="rect">
            <a:avLst/>
          </a:prstGeom>
          <a:solidFill>
            <a:srgbClr val="0714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990088"/>
            <a:ext cx="64008" cy="1188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" y="3154680"/>
            <a:ext cx="457200" cy="45720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0815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Wrapping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3538728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COBOL/C++ systems exposed via JAX-WS facade + JCA adapter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990088"/>
            <a:ext cx="4160520" cy="1188720"/>
          </a:xfrm>
          <a:prstGeom prst="rect">
            <a:avLst/>
          </a:prstGeom>
          <a:solidFill>
            <a:srgbClr val="0714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990088"/>
            <a:ext cx="64008" cy="11887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937760" y="315468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04688" y="30815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Exposure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10328" y="3538728"/>
            <a:ext cx="3886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Mobile/browser clients access product data via JAX-RS JSON API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for Java EE — Technical Training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A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Hosting Scenarios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C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Topologies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7472" y="1371600"/>
            <a:ext cx="844905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371600"/>
            <a:ext cx="2377440" cy="6858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3716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834640" y="142646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+ Endpoint.publish()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171907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/ Testing only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176272"/>
            <a:ext cx="844905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176272"/>
            <a:ext cx="2377440" cy="6858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2176272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Servlet Container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34640" y="223113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Tomcat / Jetty + CXF/Metro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34640" y="2523744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SOAP/REST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2980944"/>
            <a:ext cx="844905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2980944"/>
            <a:ext cx="2377440" cy="6858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980944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EJB Container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34640" y="3035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GlassFish / WildFly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34640" y="332841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Java EE — transactions, pooling, security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" y="3785616"/>
            <a:ext cx="8449056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3785616"/>
            <a:ext cx="2377440" cy="685800"/>
          </a:xfrm>
          <a:prstGeom prst="rect">
            <a:avLst/>
          </a:prstGeom>
          <a:solidFill>
            <a:srgbClr val="0C1F3F"/>
          </a:solidFill>
          <a:ln w="12700">
            <a:solidFill>
              <a:srgbClr val="0C1F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785616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Cluster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834640" y="3840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WebSphere / WebLogic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34640" y="413308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HA &amp; load balancing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" y="4626864"/>
            <a:ext cx="8449056" cy="310896"/>
          </a:xfrm>
          <a:prstGeom prst="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626864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EJB endpoints gain JTA transactions, JNDI, DI, lifecycle management, and pooling automatically — choose EJB for production services.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for Java EE — Technical Training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— Hosting Scenarios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F3F"/>
          </a:solidFill>
          <a:ln w="12700">
            <a:solidFill>
              <a:srgbClr val="0C1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in Java EE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47472" y="1216152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API stack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7472" y="1691640"/>
            <a:ext cx="4160520" cy="658368"/>
          </a:xfrm>
          <a:prstGeom prst="rect">
            <a:avLst/>
          </a:prstGeom>
          <a:solidFill>
            <a:srgbClr val="0714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691640"/>
            <a:ext cx="64008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7465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JAX-WS 2.x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" y="20391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endpoints &amp; clients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7472" y="2468880"/>
            <a:ext cx="4160520" cy="658368"/>
          </a:xfrm>
          <a:prstGeom prst="rect">
            <a:avLst/>
          </a:prstGeom>
          <a:solidFill>
            <a:srgbClr val="0714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468880"/>
            <a:ext cx="64008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25237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JAXB 2.x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" y="28163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↔ XML binding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3246120"/>
            <a:ext cx="4160520" cy="658368"/>
          </a:xfrm>
          <a:prstGeom prst="rect">
            <a:avLst/>
          </a:prstGeom>
          <a:solidFill>
            <a:srgbClr val="0714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3246120"/>
            <a:ext cx="64008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33009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SAAJ 1.3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" y="35935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SOAP messages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47472" y="4023360"/>
            <a:ext cx="4160520" cy="658368"/>
          </a:xfrm>
          <a:prstGeom prst="rect">
            <a:avLst/>
          </a:prstGeom>
          <a:solidFill>
            <a:srgbClr val="0714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4023360"/>
            <a:ext cx="64008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4078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JAXP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3776" y="43708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 / DOM / StAX / XSLT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1691640"/>
            <a:ext cx="4160520" cy="658368"/>
          </a:xfrm>
          <a:prstGeom prst="rect">
            <a:avLst/>
          </a:prstGeom>
          <a:solidFill>
            <a:srgbClr val="0714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691640"/>
            <a:ext cx="64008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17465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JAX-RS 2.x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01184" y="203911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resource classes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54880" y="2468880"/>
            <a:ext cx="4160520" cy="658368"/>
          </a:xfrm>
          <a:prstGeom prst="rect">
            <a:avLst/>
          </a:prstGeom>
          <a:solidFill>
            <a:srgbClr val="0714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468880"/>
            <a:ext cx="64008" cy="65836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01184" y="25237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JSR 181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901184" y="28163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@WebService annotations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754880" y="3246120"/>
            <a:ext cx="4160520" cy="658368"/>
          </a:xfrm>
          <a:prstGeom prst="rect">
            <a:avLst/>
          </a:prstGeom>
          <a:solidFill>
            <a:srgbClr val="0714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246120"/>
            <a:ext cx="64008" cy="65836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1184" y="330098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JSR 109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01184" y="35935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Port Components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754880" y="4023360"/>
            <a:ext cx="4160520" cy="658368"/>
          </a:xfrm>
          <a:prstGeom prst="rect">
            <a:avLst/>
          </a:prstGeom>
          <a:solidFill>
            <a:srgbClr val="0714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4023360"/>
            <a:ext cx="64008" cy="65836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01184" y="407822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JAXR 1.0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01184" y="43708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client (legacy)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for Java EE — Technical Training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A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Web Services in Java EE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C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JSR 109 — The Port Component Model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0" y="1371600"/>
            <a:ext cx="365760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0" y="1371600"/>
            <a:ext cx="3657600" cy="4572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0" y="1371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Component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80360" y="1965960"/>
            <a:ext cx="3383280" cy="54864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200253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Endpoint Interface (SEI)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971800" y="2258568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contract — method signatures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80360" y="2624328"/>
            <a:ext cx="3383280" cy="54864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2660904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Implementation Bean (SIB)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971800" y="29169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class (@Stateless etc.)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880360" y="3282696"/>
            <a:ext cx="3383280" cy="54864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71800" y="3319272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WSDL Port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71800" y="357530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binding + network address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880360" y="3941064"/>
            <a:ext cx="3383280" cy="548640"/>
          </a:xfrm>
          <a:prstGeom prst="rect">
            <a:avLst/>
          </a:prstGeom>
          <a:solidFill>
            <a:srgbClr val="F1F5F9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3977640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Handler Chain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971800" y="423367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interceptor pipeline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" y="21945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C1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@WebService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C1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@Stateless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C1F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@HandlerChain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578608" y="2743200"/>
            <a:ext cx="164592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2194560"/>
            <a:ext cx="2194560" cy="109728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83680" y="219456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WSDL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0" y="2743200"/>
            <a:ext cx="164592" cy="0"/>
          </a:xfrm>
          <a:prstGeom prst="line">
            <a:avLst/>
          </a:prstGeom>
          <a:noFill/>
          <a:ln w="15240">
            <a:solidFill>
              <a:srgbClr val="0F76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for Java EE — Technical Training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— Web Services in Java EE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C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JAX-WS — Core Annotations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7472" y="1353312"/>
            <a:ext cx="416052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353312"/>
            <a:ext cx="54864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0817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@WebService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75564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class as SOAP endpoint; sets service/port name &amp; namespace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7472" y="2249424"/>
            <a:ext cx="416052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47472" y="2249424"/>
            <a:ext cx="54864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30428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@WebMethod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5488" y="26517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Marks method as WSDL operation; operationName or exclude=true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3145536"/>
            <a:ext cx="416052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47472" y="3145536"/>
            <a:ext cx="54864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20040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@WebParam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" y="354787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XML element name &amp; mode (IN/OUT/INOUT) of a parameter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" y="4041648"/>
            <a:ext cx="416052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4041648"/>
            <a:ext cx="54864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409651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@WebResult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" y="4443984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XML element name of the return value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1353312"/>
            <a:ext cx="416052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353312"/>
            <a:ext cx="54864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2896" y="1408176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@SOAPBinding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82896" y="175564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style (DOCUMENT/RPC) &amp; use (LITERAL/ENCODED)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2249424"/>
            <a:ext cx="416052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2249424"/>
            <a:ext cx="54864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82896" y="2304288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@HandlerChain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82896" y="265176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Associates a handler chain XML file with endpoint or client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145536"/>
            <a:ext cx="416052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145536"/>
            <a:ext cx="54864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82896" y="3200400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@Oneway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882896" y="3547872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operation — must return void; no response message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for Java EE — Technical Training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JAX-WS and JAXB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C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JAXB — Java ↔ XML Binding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7472" y="1325880"/>
            <a:ext cx="4389120" cy="33832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35608"/>
            <a:ext cx="4169664" cy="3163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@XmlRootElement(name="customer")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@XmlType(propOrder={"id","name","tier"})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Customer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@XmlElement(required=true)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String id;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@XmlElement(required=true)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String name;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@XmlElement(defaultValue="STANDARD")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String tier;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@XmlAttribute(name="currency")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private String currency="GBP";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getters/setters...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92040" y="1325880"/>
            <a:ext cx="3904488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136245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@XmlRootElement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983480" y="158191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XML element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92040" y="1892808"/>
            <a:ext cx="3904488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83480" y="1929384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@XmlElement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83480" y="21488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field to XML element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92040" y="2459736"/>
            <a:ext cx="3904488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83480" y="2496312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@XmlAttribute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271576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field to XML attribute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3026664"/>
            <a:ext cx="3904488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83480" y="306324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@XmlType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3282696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element order (propOrder)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3593592"/>
            <a:ext cx="3904488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83480" y="363016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@XmlTransient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3849624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field from XML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4160520"/>
            <a:ext cx="3904488" cy="475488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83480" y="419709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@XmlEnum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83480" y="44165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Java enum to XSD enum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for Java EE — Technical Training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— JAX-WS and JAXB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F3F"/>
          </a:solidFill>
          <a:ln w="12700">
            <a:solidFill>
              <a:srgbClr val="0C1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Metadata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47472" y="121615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JSR 181 — Turn any POJO into a web service endpoint with annotations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" y="1691640"/>
            <a:ext cx="84490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@SOAPBinding — Binding Styles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2011680"/>
            <a:ext cx="3840480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0116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24528" y="2011680"/>
            <a:ext cx="2011680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24528" y="20116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WS-I Compliant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54496" y="2011680"/>
            <a:ext cx="2194560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496" y="201168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2395728"/>
            <a:ext cx="3840480" cy="457200"/>
          </a:xfrm>
          <a:prstGeom prst="rect">
            <a:avLst/>
          </a:prstGeom>
          <a:solidFill>
            <a:srgbClr val="0A2A1A"/>
          </a:solidFill>
          <a:ln w="3810">
            <a:solidFill>
              <a:srgbClr val="1E3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" y="2395728"/>
            <a:ext cx="3694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/ LITERAL / WRAPPED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24528" y="2395728"/>
            <a:ext cx="2011680" cy="457200"/>
          </a:xfrm>
          <a:prstGeom prst="rect">
            <a:avLst/>
          </a:prstGeom>
          <a:solidFill>
            <a:srgbClr val="0A2A1A"/>
          </a:solidFill>
          <a:ln w="3810">
            <a:solidFill>
              <a:srgbClr val="1E3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2395728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54496" y="2395728"/>
            <a:ext cx="2194560" cy="457200"/>
          </a:xfrm>
          <a:prstGeom prst="rect">
            <a:avLst/>
          </a:prstGeom>
          <a:solidFill>
            <a:srgbClr val="0A2A1A"/>
          </a:solidFill>
          <a:ln w="3810">
            <a:solidFill>
              <a:srgbClr val="1E3A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2395728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Best choice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7472" y="2907792"/>
            <a:ext cx="3840480" cy="457200"/>
          </a:xfrm>
          <a:prstGeom prst="rect">
            <a:avLst/>
          </a:prstGeom>
          <a:solidFill>
            <a:srgbClr val="0A1F38"/>
          </a:solidFill>
          <a:ln w="3810">
            <a:solidFill>
              <a:srgbClr val="1E3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0624" y="2907792"/>
            <a:ext cx="3694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/ LITERAL / BARE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224528" y="2907792"/>
            <a:ext cx="2011680" cy="457200"/>
          </a:xfrm>
          <a:prstGeom prst="rect">
            <a:avLst/>
          </a:prstGeom>
          <a:solidFill>
            <a:srgbClr val="0A1F38"/>
          </a:solidFill>
          <a:ln w="3810">
            <a:solidFill>
              <a:srgbClr val="1E3A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97680" y="2907792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54496" y="2907792"/>
            <a:ext cx="2194560" cy="457200"/>
          </a:xfrm>
          <a:prstGeom prst="rect">
            <a:avLst/>
          </a:prstGeom>
          <a:solidFill>
            <a:srgbClr val="0A1F38"/>
          </a:solidFill>
          <a:ln w="3810">
            <a:solidFill>
              <a:srgbClr val="1E3A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27648" y="2907792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Usable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47472" y="3419856"/>
            <a:ext cx="3840480" cy="457200"/>
          </a:xfrm>
          <a:prstGeom prst="rect">
            <a:avLst/>
          </a:prstGeom>
          <a:solidFill>
            <a:srgbClr val="0A1F38"/>
          </a:solidFill>
          <a:ln w="3810">
            <a:solidFill>
              <a:srgbClr val="1E3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" y="3419856"/>
            <a:ext cx="3694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 / LITERAL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224528" y="3419856"/>
            <a:ext cx="2011680" cy="457200"/>
          </a:xfrm>
          <a:prstGeom prst="rect">
            <a:avLst/>
          </a:prstGeom>
          <a:solidFill>
            <a:srgbClr val="0A1F38"/>
          </a:solidFill>
          <a:ln w="3810">
            <a:solidFill>
              <a:srgbClr val="1E3A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0" y="3419856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Yes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54496" y="3419856"/>
            <a:ext cx="2194560" cy="457200"/>
          </a:xfrm>
          <a:prstGeom prst="rect">
            <a:avLst/>
          </a:prstGeom>
          <a:solidFill>
            <a:srgbClr val="0A1F38"/>
          </a:solidFill>
          <a:ln w="3810">
            <a:solidFill>
              <a:srgbClr val="1E3A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27648" y="3419856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47472" y="3931920"/>
            <a:ext cx="3840480" cy="457200"/>
          </a:xfrm>
          <a:prstGeom prst="rect">
            <a:avLst/>
          </a:prstGeom>
          <a:solidFill>
            <a:srgbClr val="0A1F38"/>
          </a:solidFill>
          <a:ln w="3810">
            <a:solidFill>
              <a:srgbClr val="1E3A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0624" y="3931920"/>
            <a:ext cx="36941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RPC / ENCODED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224528" y="3931920"/>
            <a:ext cx="2011680" cy="457200"/>
          </a:xfrm>
          <a:prstGeom prst="rect">
            <a:avLst/>
          </a:prstGeom>
          <a:solidFill>
            <a:srgbClr val="0A1F38"/>
          </a:solidFill>
          <a:ln w="3810">
            <a:solidFill>
              <a:srgbClr val="1E3A6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0" y="3931920"/>
            <a:ext cx="186537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54496" y="3931920"/>
            <a:ext cx="2194560" cy="457200"/>
          </a:xfrm>
          <a:prstGeom prst="rect">
            <a:avLst/>
          </a:prstGeom>
          <a:solidFill>
            <a:srgbClr val="0A1F38"/>
          </a:solidFill>
          <a:ln w="3810">
            <a:solidFill>
              <a:srgbClr val="1E3A6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27648" y="3931920"/>
            <a:ext cx="20482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Never use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47472" y="4462272"/>
            <a:ext cx="8449056" cy="457200"/>
          </a:xfrm>
          <a:prstGeom prst="rect">
            <a:avLst/>
          </a:prstGeom>
          <a:solidFill>
            <a:srgbClr val="0714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4622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@HandlerChain: SOAPHandler (full SOAP envelope) | LogicalHandler (payload only — protocol-independent)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743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for Java EE — Technical Training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A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— Web Services Metadata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C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WSDL-First vs Java-First Development Paths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7472" y="1353312"/>
            <a:ext cx="4160520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353312"/>
            <a:ext cx="416052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35331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WSDL-First (Contract-First)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" y="1965960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68096" y="187452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WSDL document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2064" y="2350008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2585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wsimport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2064" y="2734056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64261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Generates: SEI, stubs, value types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2064" y="3118104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302666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stable before implementation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" y="3502152"/>
            <a:ext cx="182880" cy="1828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41071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External partners / multiple impls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" y="3794760"/>
            <a:ext cx="38862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" y="3858768"/>
            <a:ext cx="3703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wsimport -keep -p com.example.client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CustomerService.wsdl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1353312"/>
            <a:ext cx="4160520" cy="3493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1353312"/>
            <a:ext cx="4160520" cy="4114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353312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Java-First (Code-First)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19472" y="1965960"/>
            <a:ext cx="182880" cy="1828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75504" y="187452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@WebService annotated class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919472" y="2350008"/>
            <a:ext cx="182880" cy="1828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75504" y="2258568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wsgen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19472" y="2734056"/>
            <a:ext cx="182880" cy="1828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75504" y="2642616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Generates: WSDL + XSD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19472" y="3118104"/>
            <a:ext cx="182880" cy="1828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175504" y="3026664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derived from code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19472" y="3502152"/>
            <a:ext cx="182880" cy="182880"/>
          </a:xfrm>
          <a:prstGeom prst="ellipse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75504" y="3410712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Internal / rapid prototyping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92040" y="3794760"/>
            <a:ext cx="38862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858768"/>
            <a:ext cx="37033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wsgen -cp target/classes -wsdl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com.example.CustomerServiceImpl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for Java EE — Technical Training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WSDL to Java and Java to WSDL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C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wsimport-Generated Client Code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7472" y="1298448"/>
            <a:ext cx="8449056" cy="345643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08176"/>
            <a:ext cx="8229600" cy="3236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Service object — reads WSDL annotation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CustomerService service = new CustomerService();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Get port proxy (implements SEI)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CustomerPortType port = service.getCustomerPort();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3. Invoke operation — JAXB handles marshalling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GetCustomerRequest req = new GetCustomerRequest();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req.setCustomerId("CUST-001");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GetCustomerResponse resp = port.getCustomer(req);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System.out.println(resp.getCustomer().getName());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4. Override endpoint address at runtime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BindingProvider bp = (BindingProvider) port;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bp.getRequestContext().put(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BindingProvider.ENDPOINT_ADDRESS_PROPERTY,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"https://api.example.com/CustomerService");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for Java EE — Technical Training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— WSDL to Java and Java to WSDL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F3F"/>
          </a:solidFill>
          <a:ln w="12700">
            <a:solidFill>
              <a:srgbClr val="0C1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&amp; Dispatch APIs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47472" y="121615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4A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message-level access — no generated stubs required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691640"/>
            <a:ext cx="4160520" cy="347472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69164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Provider&lt;T&gt; — Service Side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47472" y="2121408"/>
            <a:ext cx="4160520" cy="566928"/>
          </a:xfrm>
          <a:prstGeom prst="rect">
            <a:avLst/>
          </a:prstGeom>
          <a:solidFill>
            <a:srgbClr val="071428"/>
          </a:solidFill>
          <a:ln w="12700">
            <a:solidFill>
              <a:srgbClr val="3D2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157984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Provider&lt;SOAPMessage&gt;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43230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SOAP envelope  |  Mode.MESSAGE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" y="2779776"/>
            <a:ext cx="4160520" cy="566928"/>
          </a:xfrm>
          <a:prstGeom prst="rect">
            <a:avLst/>
          </a:prstGeom>
          <a:solidFill>
            <a:srgbClr val="071428"/>
          </a:solidFill>
          <a:ln w="12700">
            <a:solidFill>
              <a:srgbClr val="3D2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16352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Provider&lt;Source&gt;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0906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payload only  |  Mode.PAYLOAD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438144"/>
            <a:ext cx="4160520" cy="566928"/>
          </a:xfrm>
          <a:prstGeom prst="rect">
            <a:avLst/>
          </a:prstGeom>
          <a:solidFill>
            <a:srgbClr val="071428"/>
          </a:solidFill>
          <a:ln w="12700">
            <a:solidFill>
              <a:srgbClr val="3D2A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747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4B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Provider&lt;DataSource&gt;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37490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MIME  |  MTOM/SwA scenarios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691640"/>
            <a:ext cx="4041648" cy="34747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691640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Dispatch&lt;T&gt; — Client Side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121408"/>
            <a:ext cx="4041648" cy="566928"/>
          </a:xfrm>
          <a:prstGeom prst="rect">
            <a:avLst/>
          </a:prstGeom>
          <a:solidFill>
            <a:srgbClr val="0714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2157984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invoke(T)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64608" y="2432304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— blocks until response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779776"/>
            <a:ext cx="4041648" cy="566928"/>
          </a:xfrm>
          <a:prstGeom prst="rect">
            <a:avLst/>
          </a:prstGeom>
          <a:solidFill>
            <a:srgbClr val="0714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281635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invokeAsync(T)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64608" y="3090672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polling — returns Response&lt;T&gt;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438144"/>
            <a:ext cx="4041648" cy="566928"/>
          </a:xfrm>
          <a:prstGeom prst="rect">
            <a:avLst/>
          </a:prstGeom>
          <a:solidFill>
            <a:srgbClr val="0714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4608" y="347472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invokeAsync(T,Handler)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64608" y="374904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callback — fires when done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4096512"/>
            <a:ext cx="4041648" cy="566928"/>
          </a:xfrm>
          <a:prstGeom prst="rect">
            <a:avLst/>
          </a:prstGeom>
          <a:solidFill>
            <a:srgbClr val="0714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4133088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invokeOneWay(T)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64608" y="440740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Fire-and-forget — no response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for Java EE — Technical Training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A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 — Provider and Dispatch APIs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C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SAAJ — SOAP Message Object Model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7472" y="1335024"/>
            <a:ext cx="8449056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335024"/>
            <a:ext cx="8449056" cy="2743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335024"/>
            <a:ext cx="83393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SOAPMessage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02336" y="1645920"/>
            <a:ext cx="833932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top-level container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48640" y="1737360"/>
            <a:ext cx="502920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737360"/>
            <a:ext cx="5029200" cy="274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" y="1737360"/>
            <a:ext cx="4919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SOAPPart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03504" y="2048256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 content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749808" y="2121408"/>
            <a:ext cx="4626864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2121408"/>
            <a:ext cx="4626864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2121408"/>
            <a:ext cx="45171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SOAPEnvelope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4672" y="2432304"/>
            <a:ext cx="45171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XML element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914400" y="2487168"/>
            <a:ext cx="1920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" y="2487168"/>
            <a:ext cx="1920240" cy="274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" y="2487168"/>
            <a:ext cx="18105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SOAPHeader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9264" y="2798064"/>
            <a:ext cx="181051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blocks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971800" y="2487168"/>
            <a:ext cx="21945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971800" y="2487168"/>
            <a:ext cx="2194560" cy="2743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26664" y="2487168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SOAPBody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026664" y="2798064"/>
            <a:ext cx="20848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/ Fault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760720" y="1737360"/>
            <a:ext cx="274320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60720" y="1737360"/>
            <a:ext cx="2743200" cy="2743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15584" y="1737360"/>
            <a:ext cx="26334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AttachmentPart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815584" y="2048256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MIME attachments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for Java EE — Technical Training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SAAJ and JAXP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C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JAXP — XML Processing APIs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7472" y="1371600"/>
            <a:ext cx="844905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371600"/>
            <a:ext cx="914400" cy="74980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37160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4264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91840" y="142646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Streaming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12080" y="14264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SAXParserFactory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371600" y="179222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docs; sequential read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7472" y="2240280"/>
            <a:ext cx="844905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" y="2240280"/>
            <a:ext cx="914400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24028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22951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29514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In-memory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212080" y="229514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DocumentBuilderFactory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26609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access; edit &amp; write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" y="3108960"/>
            <a:ext cx="844905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3108960"/>
            <a:ext cx="914400" cy="7498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310896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StAX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71600" y="31638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Pull-based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316382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Streaming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12080" y="316382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XMLInputFactory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371600" y="352958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perf; better than SAX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47472" y="3977640"/>
            <a:ext cx="8449056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47472" y="3977640"/>
            <a:ext cx="914400" cy="749808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3977640"/>
            <a:ext cx="914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XSLT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371600" y="40325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91840" y="403250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Varies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212080" y="403250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TransformerFactory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371600" y="439826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XML→XML/HTML/text transform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7472" y="4846320"/>
            <a:ext cx="8449056" cy="237744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46320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Security: Always set IS_SUPPORTING_EXTERNAL_ENTITIES=false and SUPPORT_DTD=false on XMLInputFactory to prevent XXE attacks.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for Java EE — Technical Training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SAAJ and JAXP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F3F"/>
          </a:solidFill>
          <a:ln w="12700">
            <a:solidFill>
              <a:srgbClr val="0C1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59436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JAX-RS for RESTful Services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47472" y="121615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JSR 370 — Annotation-driven REST resources in Java EE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" y="1719072"/>
            <a:ext cx="4160520" cy="658368"/>
          </a:xfrm>
          <a:prstGeom prst="rect">
            <a:avLst/>
          </a:prstGeom>
          <a:solidFill>
            <a:srgbClr val="071428"/>
          </a:solidFill>
          <a:ln w="12700">
            <a:solidFill>
              <a:srgbClr val="3D2A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7472" y="1719072"/>
            <a:ext cx="64008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773936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3776" y="206654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URI path template to class/method  — supports {param}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2496312"/>
            <a:ext cx="4160520" cy="658368"/>
          </a:xfrm>
          <a:prstGeom prst="rect">
            <a:avLst/>
          </a:prstGeom>
          <a:solidFill>
            <a:srgbClr val="071428"/>
          </a:solidFill>
          <a:ln w="12700">
            <a:solidFill>
              <a:srgbClr val="3D2A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" y="2496312"/>
            <a:ext cx="64008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2551176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@GET/@POST/etc.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" y="284378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 binding annotations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273552"/>
            <a:ext cx="4160520" cy="658368"/>
          </a:xfrm>
          <a:prstGeom prst="rect">
            <a:avLst/>
          </a:prstGeom>
          <a:solidFill>
            <a:srgbClr val="071428"/>
          </a:solidFill>
          <a:ln w="12700">
            <a:solidFill>
              <a:srgbClr val="3D2A0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" y="3273552"/>
            <a:ext cx="64008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" y="3328416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@Produces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" y="362102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media types the method returns (response Content-Type)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4050792"/>
            <a:ext cx="4160520" cy="658368"/>
          </a:xfrm>
          <a:prstGeom prst="rect">
            <a:avLst/>
          </a:prstGeom>
          <a:solidFill>
            <a:srgbClr val="071428"/>
          </a:solidFill>
          <a:ln w="12700">
            <a:solidFill>
              <a:srgbClr val="3D2A0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4050792"/>
            <a:ext cx="64008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" y="4105656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@Consumes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" y="439826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media types the method accepts (request Content-Type)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719072"/>
            <a:ext cx="4160520" cy="658368"/>
          </a:xfrm>
          <a:prstGeom prst="rect">
            <a:avLst/>
          </a:prstGeom>
          <a:solidFill>
            <a:srgbClr val="071428"/>
          </a:solidFill>
          <a:ln w="12700">
            <a:solidFill>
              <a:srgbClr val="3D2A0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1719072"/>
            <a:ext cx="64008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01184" y="1773936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@PathParam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01184" y="206654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URI template variable into parameter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54880" y="2496312"/>
            <a:ext cx="4160520" cy="658368"/>
          </a:xfrm>
          <a:prstGeom prst="rect">
            <a:avLst/>
          </a:prstGeom>
          <a:solidFill>
            <a:srgbClr val="071428"/>
          </a:solidFill>
          <a:ln w="12700">
            <a:solidFill>
              <a:srgbClr val="3D2A0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2496312"/>
            <a:ext cx="64008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01184" y="2551176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@QueryParam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901184" y="284378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query string value (?key=val) into parameter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273552"/>
            <a:ext cx="4160520" cy="658368"/>
          </a:xfrm>
          <a:prstGeom prst="rect">
            <a:avLst/>
          </a:prstGeom>
          <a:solidFill>
            <a:srgbClr val="071428"/>
          </a:solidFill>
          <a:ln w="12700">
            <a:solidFill>
              <a:srgbClr val="3D2A0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273552"/>
            <a:ext cx="64008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01184" y="3328416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@Context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01184" y="362102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Injects UriInfo, HttpHeaders, SecurityContext, Request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4050792"/>
            <a:ext cx="4160520" cy="658368"/>
          </a:xfrm>
          <a:prstGeom prst="rect">
            <a:avLst/>
          </a:prstGeom>
          <a:solidFill>
            <a:srgbClr val="071428"/>
          </a:solidFill>
          <a:ln w="12700">
            <a:solidFill>
              <a:srgbClr val="3D2A0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54880" y="4050792"/>
            <a:ext cx="64008" cy="6583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01184" y="4105656"/>
            <a:ext cx="3886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@ApplicationPath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901184" y="4398264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base URI for all resources in the Application class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for Java EE — Technical Training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A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— JAX-RS for RESTful Services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C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JAX-RS Resource Class — Full Example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7472" y="1481328"/>
            <a:ext cx="5303520" cy="3310128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91056"/>
            <a:ext cx="5084064" cy="3090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@Path("/customers")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@Produces(APPLICATION_XML)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@Consumes(APPLICATION_XML)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CustomerResource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@Inject CustomerService svc;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@GET                    // GET /customers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List&lt;Customer&gt; list(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@QueryParam("tier") String tier)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svc.find(tier);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@GET @Path("{id}")   // GET /customers/{id}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Response get(@PathParam("id") String id){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Customer c = svc.findById(id);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if(c==null) throw new NotFoundException();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Response.ok(c).build();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@POST                   // POST /customers -&gt; 201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public Response create(Customer c,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CD3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@Context UriInfo ui)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Customer saved = svc.create(c);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URI loc = ui.getAbsolutePathBuilder()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.path(saved.getId()).build();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Response.created(loc).entity(saved).build();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A3E6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833872" y="1371600"/>
            <a:ext cx="296265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C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Verbs &amp; Status Codes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33872" y="1755648"/>
            <a:ext cx="731520" cy="475488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33872" y="1755648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01968" y="1755648"/>
            <a:ext cx="2194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755648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/ 404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33872" y="2377440"/>
            <a:ext cx="731520" cy="47548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237744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01968" y="2377440"/>
            <a:ext cx="2194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2377440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33872" y="2999232"/>
            <a:ext cx="731520" cy="47548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33872" y="2999232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01968" y="2999232"/>
            <a:ext cx="2194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2999232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OK / 404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833872" y="3621024"/>
            <a:ext cx="731520" cy="47548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33872" y="3621024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01968" y="3621024"/>
            <a:ext cx="2194560" cy="475488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621024"/>
            <a:ext cx="204825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204 No Content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833872" y="4297680"/>
            <a:ext cx="2962656" cy="493776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4297680"/>
            <a:ext cx="274320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@ApplicationPath("/api")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4530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App extends Application {}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for Java EE — Technical Training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8 — JAX-RS for RESTful Services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C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JAXR — Java API for XML Registries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7472" y="1353312"/>
            <a:ext cx="2560320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35331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JAXR Object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44368" y="1353312"/>
            <a:ext cx="4572000" cy="32918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1353312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1737360"/>
            <a:ext cx="2560320" cy="420624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73736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944368" y="1737360"/>
            <a:ext cx="4572000" cy="420624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035808" y="1737360"/>
            <a:ext cx="4389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entity (≈ UDDI businessEntity)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47472" y="2212848"/>
            <a:ext cx="25603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8912" y="2212848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944368" y="2212848"/>
            <a:ext cx="45720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35808" y="2212848"/>
            <a:ext cx="4389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 offered by an Organization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" y="2688336"/>
            <a:ext cx="2560320" cy="420624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688336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ServiceBinding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944368" y="2688336"/>
            <a:ext cx="4572000" cy="420624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35808" y="2688336"/>
            <a:ext cx="4389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endpoint (≈ UDDI bindingTemplate)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47472" y="3163824"/>
            <a:ext cx="25603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" y="3163824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SpecificationLink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944368" y="3163824"/>
            <a:ext cx="45720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35808" y="3163824"/>
            <a:ext cx="4389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WSDL tModel / technical spec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" y="3639312"/>
            <a:ext cx="2560320" cy="420624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8912" y="363931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944368" y="3639312"/>
            <a:ext cx="4572000" cy="420624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35808" y="3639312"/>
            <a:ext cx="4389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Associates an object with a taxonomy value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47472" y="4114800"/>
            <a:ext cx="256032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" y="4114800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tModel / ClassificationScheme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944368" y="4114800"/>
            <a:ext cx="4572000" cy="420624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35808" y="4114800"/>
            <a:ext cx="4389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model / taxonomy definition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589520" y="1353312"/>
            <a:ext cx="1207008" cy="3273552"/>
          </a:xfrm>
          <a:prstGeom prst="rect">
            <a:avLst/>
          </a:prstGeom>
          <a:solidFill>
            <a:srgbClr val="FFFBEB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35240" y="1417320"/>
            <a:ext cx="1115568" cy="3127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 in Java EE 7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from Jakarta EE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legacy apps only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47472" y="4626864"/>
            <a:ext cx="8449056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62686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alternatives: Consul · Eureka · AWS API Gateway · Backstage · Apache jUDDI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743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for Java EE — Technical Training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9 — JAXR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C1F3F"/>
          </a:solidFill>
          <a:ln w="12700">
            <a:solidFill>
              <a:srgbClr val="0C1F3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solidFill>
            <a:srgbClr val="0C1F3F"/>
          </a:solidFill>
          <a:ln w="12700">
            <a:solidFill>
              <a:srgbClr val="0C1F3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256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47472" y="603504"/>
            <a:ext cx="8449056" cy="65836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0C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Quick Reference — Web Services for Java EE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47472" y="1371600"/>
            <a:ext cx="416052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371600"/>
            <a:ext cx="1051560" cy="731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37160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JAX-WS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90472" y="14173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JSR 224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490472" y="17556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 endpoints &amp; clients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240280"/>
            <a:ext cx="416052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7472" y="2240280"/>
            <a:ext cx="1051560" cy="731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22402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90472" y="22860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JSR 222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490472" y="26243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↔ XML marshalling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3108960"/>
            <a:ext cx="416052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7472" y="3108960"/>
            <a:ext cx="1051560" cy="7315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7472" y="310896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JAX-RS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90472" y="31546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JSR 370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90472" y="34930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resource classes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" y="3977640"/>
            <a:ext cx="416052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47472" y="3977640"/>
            <a:ext cx="1051560" cy="7315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977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SAAJ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90472" y="40233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JSR 67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90472" y="43616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Low-level SOAP construction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1371600"/>
            <a:ext cx="416052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1371600"/>
            <a:ext cx="1051560" cy="7315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9160" y="137160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852160" y="141732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JAXP 1.4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852160" y="17556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SAX/DOM/StAX/XSLT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2240280"/>
            <a:ext cx="416052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09160" y="2240280"/>
            <a:ext cx="1051560" cy="7315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224028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JSR 181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852160" y="22860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JSR 181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852160" y="26243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@WebService annotations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09160" y="3108960"/>
            <a:ext cx="416052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09160" y="3108960"/>
            <a:ext cx="1051560" cy="731520"/>
          </a:xfrm>
          <a:prstGeom prst="rect">
            <a:avLst/>
          </a:prstGeom>
          <a:solidFill>
            <a:srgbClr val="0C1F3F"/>
          </a:solidFill>
          <a:ln w="12700">
            <a:solidFill>
              <a:srgbClr val="0C1F3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310896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JSR 109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852160" y="315468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JSR 109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852160" y="34930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Port Components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709160" y="3977640"/>
            <a:ext cx="4160520" cy="73152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  <a:effectLst>
            <a:outerShdw sx="100000" sy="100000" kx="0" ky="0" algn="bl" rotWithShape="0" blurRad="50800" dist="25400" dir="16200000">
              <a:srgbClr val="000000">
                <a:alpha val="7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09160" y="3977640"/>
            <a:ext cx="1051560" cy="7315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3977640"/>
            <a:ext cx="1051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JAXR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852160" y="40233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JSR 93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852160" y="436168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C1F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client (legacy)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for Java EE — Technical Training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F3F"/>
          </a:solidFill>
          <a:ln w="12700">
            <a:solidFill>
              <a:srgbClr val="0C1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71428"/>
          </a:solidFill>
          <a:ln w="12700">
            <a:solidFill>
              <a:srgbClr val="07142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5303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47472" y="1170432"/>
            <a:ext cx="4160520" cy="1051560"/>
          </a:xfrm>
          <a:prstGeom prst="rect">
            <a:avLst/>
          </a:prstGeom>
          <a:solidFill>
            <a:srgbClr val="0714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170432"/>
            <a:ext cx="502920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170432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41832" y="1353312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EE containers provide transactions, pooling, DI and security to any hosted web service.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4160520" cy="1051560"/>
          </a:xfrm>
          <a:prstGeom prst="rect">
            <a:avLst/>
          </a:prstGeom>
          <a:solidFill>
            <a:srgbClr val="0714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170432"/>
            <a:ext cx="502920" cy="10515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70432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49240" y="1353312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JAX-WS + JAXB covers SOAP endpoints. Use document/literal/wrapped for WS-I compliance.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2404872"/>
            <a:ext cx="4160520" cy="1051560"/>
          </a:xfrm>
          <a:prstGeom prst="rect">
            <a:avLst/>
          </a:prstGeom>
          <a:solidFill>
            <a:srgbClr val="0714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7472" y="2404872"/>
            <a:ext cx="502920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2404872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41832" y="2587752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JSR 181 annotations (@WebService, @SOAPBinding) drive WSDL generation with no XML config.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404872"/>
            <a:ext cx="4160520" cy="1051560"/>
          </a:xfrm>
          <a:prstGeom prst="rect">
            <a:avLst/>
          </a:prstGeom>
          <a:solidFill>
            <a:srgbClr val="0714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2404872"/>
            <a:ext cx="502920" cy="10515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404872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49240" y="2587752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WSDL-first for partner integrations; Java-first for internal or rapid-prototyping.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7472" y="3639312"/>
            <a:ext cx="4160520" cy="1051560"/>
          </a:xfrm>
          <a:prstGeom prst="rect">
            <a:avLst/>
          </a:prstGeom>
          <a:solidFill>
            <a:srgbClr val="0714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47472" y="3639312"/>
            <a:ext cx="502920" cy="105156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" y="3639312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41832" y="3822192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Provider&lt;T&gt; / Dispatch&lt;T&gt; give raw SOAP access for routing, testing, and protocol work.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3639312"/>
            <a:ext cx="4160520" cy="1051560"/>
          </a:xfrm>
          <a:prstGeom prst="rect">
            <a:avLst/>
          </a:prstGeom>
          <a:solidFill>
            <a:srgbClr val="071428"/>
          </a:solidFill>
          <a:ln w="12700">
            <a:solidFill>
              <a:srgbClr val="1E3A6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54880" y="3639312"/>
            <a:ext cx="502920" cy="10515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639312"/>
            <a:ext cx="502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49240" y="3822192"/>
            <a:ext cx="3474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JAX-RS delivers REST APIs with @Path, @GET/@POST, @Produces, @Consumes and CDI injection.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4892040"/>
            <a:ext cx="859536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91947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3A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Services for Java EE — Technical Training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6858000" y="49194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3A5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Summary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1F3F"/>
          </a:solidFill>
          <a:ln w="12700">
            <a:solidFill>
              <a:srgbClr val="0C1F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71428"/>
          </a:solidFill>
          <a:ln w="12700">
            <a:solidFill>
              <a:srgbClr val="07142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54864" cy="51435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457200"/>
            <a:ext cx="73152" cy="73152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12280" y="457200"/>
            <a:ext cx="73152" cy="73152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0" y="457200"/>
            <a:ext cx="73152" cy="73152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1371600"/>
            <a:ext cx="73152" cy="73152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12280" y="1371600"/>
            <a:ext cx="73152" cy="73152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0" y="1371600"/>
            <a:ext cx="73152" cy="73152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2286000"/>
            <a:ext cx="73152" cy="73152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12280" y="2286000"/>
            <a:ext cx="73152" cy="73152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2286000"/>
            <a:ext cx="73152" cy="73152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3200400"/>
            <a:ext cx="73152" cy="73152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12280" y="3200400"/>
            <a:ext cx="73152" cy="73152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0" y="3200400"/>
            <a:ext cx="73152" cy="73152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09360" y="4114800"/>
            <a:ext cx="73152" cy="73152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12280" y="4114800"/>
            <a:ext cx="73152" cy="73152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4114800"/>
            <a:ext cx="73152" cy="73152"/>
          </a:xfrm>
          <a:prstGeom prst="ellipse">
            <a:avLst/>
          </a:prstGeom>
          <a:solidFill>
            <a:srgbClr val="142840"/>
          </a:solidFill>
          <a:ln w="12700">
            <a:solidFill>
              <a:srgbClr val="142840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822960"/>
            <a:ext cx="1097280" cy="109728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7200" y="109728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22" name="Shape 19"/>
          <p:cNvSpPr/>
          <p:nvPr/>
        </p:nvSpPr>
        <p:spPr>
          <a:xfrm>
            <a:off x="457200" y="2057400"/>
            <a:ext cx="502920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2212848"/>
            <a:ext cx="5303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A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Lab Time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457200" y="292608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 exercises for each section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End-of-course quiz (30 questions)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Design exercise: build a JAX-WS + JAX-RS API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 mark: 70% for certification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Services for Java EE</dc:title>
  <dc:subject>PptxGenJS Presentation</dc:subject>
  <dc:creator>Technical Training</dc:creator>
  <cp:lastModifiedBy>Technical Training</cp:lastModifiedBy>
  <cp:revision>1</cp:revision>
  <dcterms:created xsi:type="dcterms:W3CDTF">2026-04-21T11:40:00Z</dcterms:created>
  <dcterms:modified xsi:type="dcterms:W3CDTF">2026-04-21T11:40:00Z</dcterms:modified>
</cp:coreProperties>
</file>