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0F18"/>
          </a:solidFill>
          <a:ln w="12700">
            <a:solidFill>
              <a:srgbClr val="06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64008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54864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86600" y="54864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41732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41732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8600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228600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315468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315468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402336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4023360"/>
            <a:ext cx="73152" cy="73152"/>
          </a:xfrm>
          <a:prstGeom prst="ellipse">
            <a:avLst/>
          </a:prstGeom>
          <a:solidFill>
            <a:srgbClr val="0A1F18"/>
          </a:solidFill>
          <a:ln w="12700">
            <a:solidFill>
              <a:srgbClr val="0A1F1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22960"/>
            <a:ext cx="1097280" cy="10972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COURSE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142646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57200" y="1938528"/>
            <a:ext cx="5486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Content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457200" y="279806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2.x  ·  JAXB 2.3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5120640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456432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Providers · Built-in Providers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XML · JAXB Annotations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Development · XXE Security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LTS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9164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9.0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92608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2.1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60520" y="4663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 2.3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60F18"/>
          </a:solidFill>
          <a:ln w="12700">
            <a:solidFill>
              <a:srgbClr val="060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 |  Entity Providers, XML &amp; Schema-Driven Content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5720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50976" y="1289304"/>
            <a:ext cx="7845552" cy="384048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89304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Providers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2185416"/>
            <a:ext cx="457200" cy="4572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" y="2240280"/>
            <a:ext cx="7845552" cy="384048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4028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Entity Providers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3136392"/>
            <a:ext cx="45720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0976" y="3191256"/>
            <a:ext cx="7845552" cy="384048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19125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XML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4087368"/>
            <a:ext cx="457200" cy="45720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0976" y="4142232"/>
            <a:ext cx="7845552" cy="384048"/>
          </a:xfrm>
          <a:prstGeom prst="rect">
            <a:avLst/>
          </a:prstGeom>
          <a:solidFill>
            <a:srgbClr val="0A1F2E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14223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XML from Schema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A3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Providers — The Serialisation Extension Point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7472" y="131673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HTTP body ↔ Java object conversion is delegated to an entity provider. Two interfaces, two directions: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82496"/>
            <a:ext cx="4160520" cy="42062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824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MessageBodyWriter&lt;T&gt; — Java → HTTP Body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139696"/>
            <a:ext cx="4160520" cy="969264"/>
          </a:xfrm>
          <a:prstGeom prst="rect">
            <a:avLst/>
          </a:prstGeom>
          <a:solidFill>
            <a:srgbClr val="E8F5F0"/>
          </a:solidFill>
          <a:ln w="12700">
            <a:solidFill>
              <a:srgbClr val="A7D7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139696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during response serialisation.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calls isWriteable(), then writeTo().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82496"/>
            <a:ext cx="4160520" cy="42062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8249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MessageBodyReader&lt;T&gt; — HTTP Body → Java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139696"/>
            <a:ext cx="4160520" cy="969264"/>
          </a:xfrm>
          <a:prstGeom prst="rect">
            <a:avLst/>
          </a:prstGeom>
          <a:solidFill>
            <a:srgbClr val="E8F5F0"/>
          </a:solidFill>
          <a:ln w="12700">
            <a:solidFill>
              <a:srgbClr val="A7D7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39696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during request deserialisation.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calls isReadable(), then readFrom().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3218688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Selection — in priority order: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3529584"/>
            <a:ext cx="8449056" cy="347472"/>
          </a:xfrm>
          <a:prstGeom prst="rect">
            <a:avLst/>
          </a:prstGeom>
          <a:solidFill>
            <a:srgbClr val="E8F5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9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More specific media type wins  (application/json beats application/*)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931920"/>
            <a:ext cx="8449056" cy="347472"/>
          </a:xfrm>
          <a:prstGeom prst="rect">
            <a:avLst/>
          </a:prstGeom>
          <a:solidFill>
            <a:srgbClr val="F0FD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User-registered providers outrank built-in providers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334256"/>
            <a:ext cx="8449056" cy="347472"/>
          </a:xfrm>
          <a:prstGeom prst="rect">
            <a:avLst/>
          </a:prstGeom>
          <a:solidFill>
            <a:srgbClr val="E8F5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342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Among equals, registration order breaks ties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Entity Providers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MessageBodyWriter — CSV Example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8449056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8229600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@Provider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@Produces("text/csv")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ProductCsvWriter implements MessageBodyWriter&lt;Product&gt;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boolean isWriteable(Class&lt;?&gt; type, Type genericType,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Annotation[] annotations, MediaType mediaType)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Product.class.isAssignableFrom(type)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&amp;&amp; mediaType.isCompatible(new MediaType("text","csv"));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long getSize(...) { return -1; }  // deprecated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writeTo(Product p, Class&lt;?&gt; type, Type genericType,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Annotation[] annotations, MediaType mediaType,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MultivaluedMap&lt;String,Object&gt; headers,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OutputStream entityStream) throws IOException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PrintWriter pw = new PrintWriter(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OutputStreamWriter(entityStream, StandardCharsets.UTF_8));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pw.println("id,name,category,price");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pw.printf("%s,%s,%s,%.2f%n", p.getId(), p.getName(),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p.getCategory(), p.getPrice());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pw.flush();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NEVER close entityStream — the container owns 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A3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Entity Providers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Entity Providers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2.1 mandates these providers — no additional dependencies required: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201168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72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95728" y="1572768"/>
            <a:ext cx="256032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5728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Types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92624" y="1572768"/>
            <a:ext cx="402336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5727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1920240"/>
            <a:ext cx="201168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92024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95728" y="1920240"/>
            <a:ext cx="256032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592" y="19202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application/octet-stream, */*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92624" y="1920240"/>
            <a:ext cx="402336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920240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binary — any media type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304288"/>
            <a:ext cx="201168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3042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95728" y="2304288"/>
            <a:ext cx="256032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230428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text/*, */*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92624" y="2304288"/>
            <a:ext cx="402336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230428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— read/write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2688336"/>
            <a:ext cx="201168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68833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InputStream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95728" y="2688336"/>
            <a:ext cx="256032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268833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application/octet-stream, */*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92624" y="2688336"/>
            <a:ext cx="402336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688336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streaming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3072384"/>
            <a:ext cx="201168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072384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95728" y="3072384"/>
            <a:ext cx="256032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307238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text/*, */*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92624" y="3072384"/>
            <a:ext cx="402336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072384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stream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3456432"/>
            <a:ext cx="201168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456432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95728" y="3456432"/>
            <a:ext cx="256032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450592" y="34564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application/octet-stream, */*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92624" y="3456432"/>
            <a:ext cx="402336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47488" y="3456432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file bytes directly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3840480"/>
            <a:ext cx="201168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3840480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StreamingOutput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395728" y="3840480"/>
            <a:ext cx="256032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0592" y="384048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application/octet-stream, */*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92624" y="3840480"/>
            <a:ext cx="402336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840480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callback writing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" y="4224528"/>
            <a:ext cx="201168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" y="422452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MultivaluedMap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95728" y="4224528"/>
            <a:ext cx="256032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0592" y="422452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application/x-www-form-urlencoded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992624" y="4224528"/>
            <a:ext cx="4023360" cy="347472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47488" y="4224528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as map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" y="4608576"/>
            <a:ext cx="201168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4608576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@XmlRootElement class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95728" y="4608576"/>
            <a:ext cx="256032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50592" y="46085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application/xml, text/xml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992624" y="4608576"/>
            <a:ext cx="4023360" cy="347472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47488" y="4608576"/>
            <a:ext cx="3913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 — see Section 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A3A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Built-in Entity Providers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Shared JAXBContext — ContextResolver&lt;JAXBContext&gt;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449056" cy="2542032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23225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@Provider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JaxbContextResolver implements ContextResolver&lt;JAXBContext&gt;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JAXBContext ctx;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JaxbContextResolver() throws JAXBException {                    // LocalDate, Instant, etc.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 = JAXBContext.newInstance(Order.class, // "2024-06-15" not 1718409600000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.disable(SerializationFeature.INDENT_OUTPUT)             // compact production output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.configure(DeserializationFeature.FAIL_ON_UNKNOWN_PROPERTIES, false) // tolerant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.setSerializationInclusion(JsonInclude.Include.NON_NULL);// omit null fields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JAXBContext getContext(Class&lt;?&gt; type) { return ctx;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" y="3986784"/>
            <a:ext cx="201168" cy="21945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9502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@Provider — auto-discovered by Jersey at startup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4261104"/>
            <a:ext cx="201168" cy="21945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4224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JAXBContext is thread-safe — create ONCE in constructor or static field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4535424"/>
            <a:ext cx="201168" cy="21945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498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a pre-warmed context covering all domain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809744"/>
            <a:ext cx="201168" cy="219456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type-specific mappers from getContext() for fine-grained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Built-in Entity Providers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 Annotation Quick Reference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371600"/>
            <a:ext cx="64008" cy="7863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2646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@XmlRootElement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a class as a JAXB root element — required for built-in JAX-RS provider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71600"/>
            <a:ext cx="64008" cy="7863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426464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@XmlType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82896" y="1737360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element order (propOrder) and the XML Schema type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267712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67712"/>
            <a:ext cx="64008" cy="7863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2257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@XmlAccessorType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263347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(bind fields) or PROPERTY (bind getters). Use FIELD.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267712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267712"/>
            <a:ext cx="64008" cy="7863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322576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@XmlElement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82896" y="2633472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field to a named child element. Use name= and required=true.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163824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163824"/>
            <a:ext cx="64008" cy="7863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21868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@XmlAttribute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" y="3529584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 field to an XML attribute on the opening tag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163824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63824"/>
            <a:ext cx="64008" cy="7863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3218688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@XmlElementWrapper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82896" y="3529584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collection in a parent element: &lt;lines&gt;&lt;line&gt;...&lt;/line&gt;&lt;/lines&gt;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4059936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059936"/>
            <a:ext cx="64008" cy="78638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114800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@XmlTransient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4425696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a field from XML output entirely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059936"/>
            <a:ext cx="4160520" cy="786384"/>
          </a:xfrm>
          <a:prstGeom prst="rect">
            <a:avLst/>
          </a:prstGeom>
          <a:solidFill>
            <a:srgbClr val="F8FFF8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4059936"/>
            <a:ext cx="64008" cy="78638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4114800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@XmlJavaTypeAdapter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82896" y="4425696"/>
            <a:ext cx="3913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a custom XmlAdapter for unsupported types (e.g., LocalDate)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Working with XML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XML and JSON from One Class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4937760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4718304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@XmlRootElement(name = "order",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 = "http://example.com/shop/orders")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@XmlType(propOrder = {"customerName",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"orderDate","lines","totalAmount"})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@XmlAccessorType(XmlAccessType.FIELD)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@XmlAttribute(name="orderId", required=true)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orderId;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@XmlElement(required=true)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@XmlJavaTypeAdapter(LocalDateAdapter.class)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LocalDate orderDate;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@XmlElementWrapper(name="lines")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@XmlElement(name="line")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List&lt;OrderLine&gt; lines;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@XmlTransient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internalRef;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31536" y="1353312"/>
            <a:ext cx="3364992" cy="3493008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1264" y="1463040"/>
            <a:ext cx="3145536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Dual output resource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 @Path("{id}")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APPLICATION_XML only in this module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APPLICATION_XML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 get(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@PathParam("id") String id){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o = repo.findById(id);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Response.ok(o).build();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Accept: application/json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→ JAXB provider marshals to XML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Accept: application/xml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→ Built-in JAXB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Working with XML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Handling — @XmlSchema package-info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449056" cy="2011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822960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src/main/java/com/example/model/package-info.java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@XmlSchema(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namespace = "http://example.com/shop/orders",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elementFormDefault = XmlNsForm.QUALIFIED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com.example.model;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javax.xml.bind.annotation.XmlSchema;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javax.xml.bind.annotation.XmlNsForm;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3438144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file applies the namespace to ALL classes in com.example.model — no repetition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3858768"/>
            <a:ext cx="8449056" cy="292608"/>
          </a:xfrm>
          <a:prstGeom prst="rect">
            <a:avLst/>
          </a:prstGeom>
          <a:solidFill>
            <a:srgbClr val="E8F5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@XmlRootElement(namespace=...)  —  Namespace on each class individually. Verbose but explicit.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4187952"/>
            <a:ext cx="8449056" cy="292608"/>
          </a:xfrm>
          <a:prstGeom prst="rect">
            <a:avLst/>
          </a:prstGeom>
          <a:solidFill>
            <a:srgbClr val="F0FDF4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1879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package-info.java with @XmlSchema  —  Namespace applied to every class in the package. Preferred for large models.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4517136"/>
            <a:ext cx="8449056" cy="292608"/>
          </a:xfrm>
          <a:prstGeom prst="rect">
            <a:avLst/>
          </a:prstGeom>
          <a:solidFill>
            <a:srgbClr val="E8F5F0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171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elementFormDefault=QUALIFIED  —  All child elements also carry the namespace, not just the root. Required for schema-conformant output.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Working with XML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vs Java-First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201168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95728" y="1389888"/>
            <a:ext cx="301752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95728" y="1389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Java-First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49824" y="1389888"/>
            <a:ext cx="356616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9824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1737360"/>
            <a:ext cx="201168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37360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1737360"/>
            <a:ext cx="301752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737360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 + @XmlRootElement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9824" y="1737360"/>
            <a:ext cx="356616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1737360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 file (the contract)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359152"/>
            <a:ext cx="2011680" cy="566928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59152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95728" y="2359152"/>
            <a:ext cx="3017520" cy="566928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2359152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schemagen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2359152"/>
            <a:ext cx="3566160" cy="566928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2359152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xjc / jaxb2-maven-plugin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980944"/>
            <a:ext cx="201168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980944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95728" y="2980944"/>
            <a:ext cx="301752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2980944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can drift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49824" y="2980944"/>
            <a:ext cx="356616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04688" y="2980944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classes always match schema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602736"/>
            <a:ext cx="2011680" cy="566928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602736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95728" y="3602736"/>
            <a:ext cx="3017520" cy="566928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602736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derived, imprecise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9824" y="3602736"/>
            <a:ext cx="3566160" cy="566928"/>
          </a:xfrm>
          <a:prstGeom prst="rect">
            <a:avLst/>
          </a:prstGeom>
          <a:solidFill>
            <a:srgbClr val="0D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04688" y="3602736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the authoritative contract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4224528"/>
            <a:ext cx="201168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4224528"/>
            <a:ext cx="19019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95728" y="4224528"/>
            <a:ext cx="301752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50592" y="4224528"/>
            <a:ext cx="29077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prototyping, internal APIs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49824" y="4224528"/>
            <a:ext cx="3566160" cy="566928"/>
          </a:xfrm>
          <a:prstGeom prst="rect">
            <a:avLst/>
          </a:prstGeom>
          <a:solidFill>
            <a:srgbClr val="0A1F2E"/>
          </a:solidFill>
          <a:ln w="3810">
            <a:solidFill>
              <a:srgbClr val="1630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4224528"/>
            <a:ext cx="3456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APIs, regulated domains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A3A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Driving XML from Schema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Binding Classes with xjc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5029200" cy="2395728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809744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&lt;groupId&gt;org.codehaus.mojo&lt;/groupId&gt;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&lt;artifactId&gt;jaxb2-maven-plugin&lt;/artifactId&gt;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&lt;version&gt;3.1.0&lt;/version&gt;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&lt;executions&gt;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&lt;execution&gt;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&lt;goals&gt;&lt;goal&gt;xjc&lt;/goal&gt;&lt;/goals&gt;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&lt;/execution&gt;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&lt;/executions&gt;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&lt;configuration&gt;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&lt;sources&gt;&lt;source&gt;src/main/xsd&lt;/source&gt;&lt;/sources&gt;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&lt;packageName&gt;com.example.shop.generated&lt;/packageName&gt;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&lt;/configuration&gt;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559552" y="1389888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59552" y="1792224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1792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61888" y="1700784"/>
            <a:ext cx="2834640" cy="457200"/>
          </a:xfrm>
          <a:prstGeom prst="rect">
            <a:avLst/>
          </a:prstGeom>
          <a:solidFill>
            <a:srgbClr val="E8F5F0"/>
          </a:solidFill>
          <a:ln w="5080">
            <a:solidFill>
              <a:srgbClr val="A7D7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70078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order-schema.xsd in src/main/xsd/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59552" y="2304288"/>
            <a:ext cx="329184" cy="32918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59552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61888" y="2212848"/>
            <a:ext cx="2834640" cy="457200"/>
          </a:xfrm>
          <a:prstGeom prst="rect">
            <a:avLst/>
          </a:prstGeom>
          <a:solidFill>
            <a:srgbClr val="E8F5F0"/>
          </a:solidFill>
          <a:ln w="5080">
            <a:solidFill>
              <a:srgbClr val="A7D7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212848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 mvn generate-sources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59552" y="2816352"/>
            <a:ext cx="329184" cy="329184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9552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1888" y="2724912"/>
            <a:ext cx="2834640" cy="457200"/>
          </a:xfrm>
          <a:prstGeom prst="rect">
            <a:avLst/>
          </a:prstGeom>
          <a:solidFill>
            <a:srgbClr val="E8F5F0"/>
          </a:solidFill>
          <a:ln w="5080">
            <a:solidFill>
              <a:srgbClr val="A7D7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724912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appear in target/generated-sources/jaxb/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59552" y="3328416"/>
            <a:ext cx="329184" cy="329184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61888" y="3236976"/>
            <a:ext cx="2834640" cy="457200"/>
          </a:xfrm>
          <a:prstGeom prst="rect">
            <a:avLst/>
          </a:prstGeom>
          <a:solidFill>
            <a:srgbClr val="E8F5F0"/>
          </a:solidFill>
          <a:ln w="5080">
            <a:solidFill>
              <a:srgbClr val="A7D7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236976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directory as Generated Sources Root in 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59552" y="3840480"/>
            <a:ext cx="329184" cy="329184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9552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61888" y="3749040"/>
            <a:ext cx="2834640" cy="457200"/>
          </a:xfrm>
          <a:prstGeom prst="rect">
            <a:avLst/>
          </a:prstGeom>
          <a:solidFill>
            <a:srgbClr val="E8F5F0"/>
          </a:solidFill>
          <a:ln w="5080">
            <a:solidFill>
              <a:srgbClr val="A7D7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749040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ObjectFactory to create instances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59552" y="4352544"/>
            <a:ext cx="329184" cy="329184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61888" y="4261104"/>
            <a:ext cx="2834640" cy="457200"/>
          </a:xfrm>
          <a:prstGeom prst="rect">
            <a:avLst/>
          </a:prstGeom>
          <a:solidFill>
            <a:srgbClr val="E8F5F0"/>
          </a:solidFill>
          <a:ln w="5080">
            <a:solidFill>
              <a:srgbClr val="A7D7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4261104"/>
            <a:ext cx="2688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create bindings.xjb to rename classes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Driving XML from Schema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56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F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+ XXE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35024"/>
            <a:ext cx="8449056" cy="32918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XXE: Attackers embed DOCTYPE to read /etc/passwd or trigger SSRF. Disable external entities on ALL XMLInputFactory instances.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737360"/>
            <a:ext cx="5029200" cy="3108960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47088"/>
            <a:ext cx="4809744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Validating MessageBodyReader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@Provider @Consumes(APPLICATION_XML)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ValidatingOrderReader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implements MessageBodyReader&lt;OrderType&gt;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{ CTX = JAXBContext.newInstance(OrderType.class);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SCHEMA = SchemaFactory.newInstance(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W3C_XML_SCHEMA_NS_URI).newSchema(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getResource("/xsd/order-schema.xsd"));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 public OrderType readFrom(...,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InputStream entityStream) throws IOException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Unmarshaller u = CTX.createUnmarshaller();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u.setSchema(SCHEMA);  // enforce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u.setEventHandler(event -&gt;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if(event.getSeverity()&gt;=ERROR)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throw new RuntimeException(event.getMessage());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true; 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u.unmarshal(...).getValue();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0" y="1737360"/>
            <a:ext cx="3310128" cy="3108960"/>
          </a:xfrm>
          <a:prstGeom prst="rect">
            <a:avLst/>
          </a:prstGeom>
          <a:solidFill>
            <a:srgbClr val="0A1628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847088"/>
            <a:ext cx="3090672" cy="2889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XXE Prevention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set these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 parsing XML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7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from untrusted sources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XMLInputFactory xif =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XMLInputFactory.newInstance();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xif.setProperty(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IS_SUPPORTING_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EXTERNAL_ENTITIES,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false);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xif.setProperty(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SUPPORT_DTD,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false);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Driving XML from Schema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060F18"/>
          </a:solidFill>
          <a:ln w="12700">
            <a:solidFill>
              <a:srgbClr val="060F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4160520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15568"/>
            <a:ext cx="502920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155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41832" y="118872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MessageBodyWriter/Reader are the extension points for all entity serialisation. isWriteable/isReadable guards selection.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60520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15568"/>
            <a:ext cx="502920" cy="8412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188720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providers cover byte[], String, InputStream, File, StreamingOutput, and @XmlRootElement classes.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103120"/>
            <a:ext cx="4160520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103120"/>
            <a:ext cx="502920" cy="8412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1031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1832" y="2176272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User-registered providers always outrank built-in providers of equal media-type specificity.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103120"/>
            <a:ext cx="4160520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03120"/>
            <a:ext cx="502920" cy="84124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0312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176272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ContextResolver&lt;JAXBContext&gt; supplies a pre-warmed shared context; javax.xml.bind.* (NOT jakarta.*) throughout.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3090672"/>
            <a:ext cx="4160520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090672"/>
            <a:ext cx="502920" cy="8412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9067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41832" y="3163824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@XmlRootElement is required for the built-in JAXB provider. @XmlElementWrapper wraps collections neatly.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090672"/>
            <a:ext cx="4160520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90672"/>
            <a:ext cx="502920" cy="84124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09067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3163824"/>
            <a:ext cx="3474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 (xjc) produces type-safe, schema-conformant classes. Use ObjectFactory, not new, to create instances.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4078224"/>
            <a:ext cx="8567928" cy="841248"/>
          </a:xfrm>
          <a:prstGeom prst="rect">
            <a:avLst/>
          </a:prstGeom>
          <a:solidFill>
            <a:srgbClr val="060F18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4078224"/>
            <a:ext cx="502920" cy="8412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078224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41832" y="4206240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disable IS_SUPPORTING_EXTERNAL_ENTITIES and SUPPORT_DTD on XMLInputFactory when accepting client XML.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A3A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1947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Entities and Complex Content  |  JAX-RS 2.x  |  Java 11 / JAXB 2.3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535"/>
          </a:solidFill>
          <a:ln w="12700">
            <a:solidFill>
              <a:srgbClr val="0F2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60F18"/>
          </a:solidFill>
          <a:ln w="12700">
            <a:solidFill>
              <a:srgbClr val="060F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0"/>
            <a:ext cx="64008" cy="51435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8229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097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5029200" cy="0"/>
          </a:xfrm>
          <a:prstGeom prst="line">
            <a:avLst/>
          </a:prstGeom>
          <a:noFill/>
          <a:ln w="19050">
            <a:solidFill>
              <a:srgbClr val="065F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2128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Lab Time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816352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1: Custom MessageBodyWriter — CSV provider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2: ContextResolver&lt;JAXBContext&gt; — shared JAXB context configuration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3: JAXB annotations — dual JSON/XML output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4: Schema-first with xjc — validating reader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 Entities and Complex Content</dc:title>
  <dc:subject>PptxGenJS Presentation</dc:subject>
  <dc:creator>PptxGenJS</dc:creator>
  <cp:lastModifiedBy>PptxGenJS</cp:lastModifiedBy>
  <cp:revision>1</cp:revision>
  <dcterms:created xsi:type="dcterms:W3CDTF">2026-04-22T11:03:51Z</dcterms:created>
  <dcterms:modified xsi:type="dcterms:W3CDTF">2026-04-22T11:03:51Z</dcterms:modified>
</cp:coreProperties>
</file>